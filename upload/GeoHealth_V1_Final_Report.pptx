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457200" y="365760"/>
            <a:ext cx="2743200" cy="365760"/>
          </a:xfrm>
          <a:prstGeom prst="rect">
            <a:avLst/>
          </a:prstGeom>
          <a:noFill/>
          <a:ln/>
        </p:spPr>
        <p:txBody>
          <a:bodyPr wrap="square" rtlCol="0" anchor="ctr"/>
          <a:lstStyle/>
          <a:p>
            <a:pPr indent="0" marL="0">
              <a:buNone/>
            </a:pPr>
            <a:r>
              <a:rPr lang="en-US" sz="2200" b="1" spc="300" kern="0" dirty="0">
                <a:solidFill>
                  <a:srgbClr val="0D98BA"/>
                </a:solidFill>
                <a:latin typeface="Calibri" pitchFamily="34" charset="0"/>
                <a:ea typeface="Calibri" pitchFamily="34" charset="-122"/>
                <a:cs typeface="Calibri" pitchFamily="34" charset="-120"/>
              </a:rPr>
              <a:t>SPROXIL</a:t>
            </a:r>
            <a:endParaRPr lang="en-US" sz="2200" dirty="0"/>
          </a:p>
        </p:txBody>
      </p:sp>
      <p:sp>
        <p:nvSpPr>
          <p:cNvPr id="3" name="Text 1"/>
          <p:cNvSpPr/>
          <p:nvPr/>
        </p:nvSpPr>
        <p:spPr>
          <a:xfrm>
            <a:off x="457200" y="1554480"/>
            <a:ext cx="8229600" cy="54864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Final Project Report</a:t>
            </a:r>
            <a:endParaRPr lang="en-US" sz="4000" dirty="0"/>
          </a:p>
        </p:txBody>
      </p:sp>
      <p:sp>
        <p:nvSpPr>
          <p:cNvPr id="4" name="Text 2"/>
          <p:cNvSpPr/>
          <p:nvPr/>
        </p:nvSpPr>
        <p:spPr>
          <a:xfrm>
            <a:off x="457200" y="2286000"/>
            <a:ext cx="8229600" cy="365760"/>
          </a:xfrm>
          <a:prstGeom prst="rect">
            <a:avLst/>
          </a:prstGeom>
          <a:noFill/>
          <a:ln/>
        </p:spPr>
        <p:txBody>
          <a:bodyPr wrap="square" rtlCol="0" anchor="ctr"/>
          <a:lstStyle/>
          <a:p>
            <a:pPr indent="0" marL="0">
              <a:buNone/>
            </a:pPr>
            <a:r>
              <a:rPr lang="en-US" sz="2000" dirty="0">
                <a:solidFill>
                  <a:srgbClr val="00A896"/>
                </a:solidFill>
                <a:latin typeface="Calibri" pitchFamily="34" charset="0"/>
                <a:ea typeface="Calibri" pitchFamily="34" charset="-122"/>
                <a:cs typeface="Calibri" pitchFamily="34" charset="-120"/>
              </a:rPr>
              <a:t>Generative AI for Geospatial Challenge (EMEA Edition)</a:t>
            </a:r>
            <a:endParaRPr lang="en-US" sz="2000" dirty="0"/>
          </a:p>
        </p:txBody>
      </p:sp>
      <p:sp>
        <p:nvSpPr>
          <p:cNvPr id="5" name="Text 3"/>
          <p:cNvSpPr/>
          <p:nvPr/>
        </p:nvSpPr>
        <p:spPr>
          <a:xfrm>
            <a:off x="457200" y="2834640"/>
            <a:ext cx="8229600" cy="73152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GeoHealth V1: A Settlement Classification and Accessibility Tool for Community Health Planning in Nigeria</a:t>
            </a:r>
            <a:endParaRPr lang="en-US" sz="1800" dirty="0"/>
          </a:p>
        </p:txBody>
      </p:sp>
      <p:sp>
        <p:nvSpPr>
          <p:cNvPr id="6" name="Text 4"/>
          <p:cNvSpPr/>
          <p:nvPr/>
        </p:nvSpPr>
        <p:spPr>
          <a:xfrm>
            <a:off x="457200" y="3931920"/>
            <a:ext cx="8229600" cy="914400"/>
          </a:xfrm>
          <a:prstGeom prst="rect">
            <a:avLst/>
          </a:prstGeom>
          <a:noFill/>
          <a:ln/>
        </p:spPr>
        <p:txBody>
          <a:bodyPr wrap="square" rtlCol="0" anchor="ctr"/>
          <a:lstStyle/>
          <a:p>
            <a:pPr indent="0" marL="0">
              <a:lnSpc>
                <a:spcPts val="2200"/>
              </a:lnSpc>
              <a:buNone/>
            </a:pPr>
            <a:r>
              <a:rPr lang="en-US" sz="1400" dirty="0">
                <a:solidFill>
                  <a:srgbClr val="C9D6E0"/>
                </a:solidFill>
                <a:latin typeface="Calibri" pitchFamily="34" charset="0"/>
                <a:ea typeface="Calibri" pitchFamily="34" charset="-122"/>
                <a:cs typeface="Calibri" pitchFamily="34" charset="-120"/>
              </a:rPr>
              <a:t>Awarding bodies:  Amazon Web Services and thriveGEO</a:t>
            </a:r>
            <a:endParaRPr lang="en-US" sz="1400" dirty="0"/>
          </a:p>
          <a:p>
            <a:pPr indent="0" marL="0">
              <a:lnSpc>
                <a:spcPts val="2200"/>
              </a:lnSpc>
              <a:buNone/>
            </a:pPr>
            <a:r>
              <a:rPr lang="en-US" sz="1400" dirty="0">
                <a:solidFill>
                  <a:srgbClr val="C9D6E0"/>
                </a:solidFill>
                <a:latin typeface="Calibri" pitchFamily="34" charset="0"/>
                <a:ea typeface="Calibri" pitchFamily="34" charset="-122"/>
                <a:cs typeface="Calibri" pitchFamily="34" charset="-120"/>
              </a:rPr>
              <a:t>Award:  USD 25,000 in AWS cloud credits</a:t>
            </a:r>
            <a:endParaRPr lang="en-US" sz="1400" dirty="0"/>
          </a:p>
          <a:p>
            <a:pPr indent="0" marL="0">
              <a:lnSpc>
                <a:spcPts val="2200"/>
              </a:lnSpc>
              <a:buNone/>
            </a:pPr>
            <a:r>
              <a:rPr lang="en-US" sz="1400" dirty="0">
                <a:solidFill>
                  <a:srgbClr val="C9D6E0"/>
                </a:solidFill>
                <a:latin typeface="Calibri" pitchFamily="34" charset="0"/>
                <a:ea typeface="Calibri" pitchFamily="34" charset="-122"/>
                <a:cs typeface="Calibri" pitchFamily="34" charset="-120"/>
              </a:rPr>
              <a:t>Lead:  Nurudeen Abubakar   |   Team:  Dr. Ashifi Gogo, Iyaghe Ofunrein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7680960" y="274320"/>
            <a:ext cx="1371600" cy="228600"/>
          </a:xfrm>
          <a:prstGeom prst="rect">
            <a:avLst/>
          </a:prstGeom>
          <a:noFill/>
          <a:ln/>
        </p:spPr>
        <p:txBody>
          <a:bodyPr wrap="square" rtlCol="0" anchor="ctr"/>
          <a:lstStyle/>
          <a:p>
            <a:pPr algn="r" indent="0" marL="0">
              <a:buNone/>
            </a:pPr>
            <a:r>
              <a:rPr lang="en-US" sz="1300" b="1" spc="200" kern="0" dirty="0">
                <a:solidFill>
                  <a:srgbClr val="0D98BA"/>
                </a:solidFill>
                <a:latin typeface="Calibri" pitchFamily="34" charset="0"/>
                <a:ea typeface="Calibri" pitchFamily="34" charset="-122"/>
                <a:cs typeface="Calibri" pitchFamily="34" charset="-120"/>
              </a:rPr>
              <a:t>SPROXIL</a:t>
            </a:r>
            <a:endParaRPr lang="en-US" sz="1300" dirty="0"/>
          </a:p>
        </p:txBody>
      </p:sp>
      <p:sp>
        <p:nvSpPr>
          <p:cNvPr id="3" name="Text 1"/>
          <p:cNvSpPr/>
          <p:nvPr/>
        </p:nvSpPr>
        <p:spPr>
          <a:xfrm>
            <a:off x="457200" y="320040"/>
            <a:ext cx="7132320" cy="548640"/>
          </a:xfrm>
          <a:prstGeom prst="rect">
            <a:avLst/>
          </a:prstGeom>
          <a:noFill/>
          <a:ln/>
        </p:spPr>
        <p:txBody>
          <a:bodyPr wrap="square" rtlCol="0" anchor="ctr"/>
          <a:lstStyle/>
          <a:p>
            <a:pPr indent="0" marL="0">
              <a:buNone/>
            </a:pPr>
            <a:r>
              <a:rPr lang="en-US" sz="2800" b="1" dirty="0">
                <a:solidFill>
                  <a:srgbClr val="1E3A5F"/>
                </a:solidFill>
                <a:latin typeface="Calibri" pitchFamily="34" charset="0"/>
                <a:ea typeface="Calibri" pitchFamily="34" charset="-122"/>
                <a:cs typeface="Calibri" pitchFamily="34" charset="-120"/>
              </a:rPr>
              <a:t>Project Overview</a:t>
            </a:r>
            <a:endParaRPr lang="en-US" sz="2800" dirty="0"/>
          </a:p>
        </p:txBody>
      </p:sp>
      <p:sp>
        <p:nvSpPr>
          <p:cNvPr id="4" name="Shape 2"/>
          <p:cNvSpPr/>
          <p:nvPr/>
        </p:nvSpPr>
        <p:spPr>
          <a:xfrm>
            <a:off x="457200" y="914400"/>
            <a:ext cx="8229600" cy="36576"/>
          </a:xfrm>
          <a:prstGeom prst="rect">
            <a:avLst/>
          </a:prstGeom>
          <a:solidFill>
            <a:srgbClr val="0D98BA"/>
          </a:solidFill>
          <a:ln/>
        </p:spPr>
      </p:sp>
      <p:sp>
        <p:nvSpPr>
          <p:cNvPr id="5" name="Text 3"/>
          <p:cNvSpPr/>
          <p:nvPr/>
        </p:nvSpPr>
        <p:spPr>
          <a:xfrm>
            <a:off x="457200" y="1188720"/>
            <a:ext cx="8229600" cy="3474720"/>
          </a:xfrm>
          <a:prstGeom prst="rect">
            <a:avLst/>
          </a:prstGeom>
          <a:noFill/>
          <a:ln/>
        </p:spPr>
        <p:txBody>
          <a:bodyPr wrap="square" rtlCol="0" anchor="ctr"/>
          <a:lstStyle/>
          <a:p>
            <a:pPr marL="342900" indent="-342900">
              <a:lnSpc>
                <a:spcPts val="2400"/>
              </a:lnSpc>
              <a:spcAft>
                <a:spcPts val="1000"/>
              </a:spcAft>
              <a:buSzPct val="100000"/>
              <a:buChar char="•"/>
            </a:pPr>
            <a:r>
              <a:rPr lang="en-US" sz="1600" dirty="0">
                <a:solidFill>
                  <a:srgbClr val="2C3E50"/>
                </a:solidFill>
                <a:latin typeface="Calibri" pitchFamily="34" charset="0"/>
                <a:ea typeface="Calibri" pitchFamily="34" charset="-122"/>
                <a:cs typeface="Calibri" pitchFamily="34" charset="-120"/>
              </a:rPr>
              <a:t>Selected from 48 proposals for a USD 25,000 AWS credits award to build a working prototype applying generative AI and cloud-native geospatial methods to a real problem.</a:t>
            </a:r>
            <a:endParaRPr lang="en-US" sz="1600" dirty="0"/>
          </a:p>
          <a:p>
            <a:pPr marL="342900" indent="-342900">
              <a:lnSpc>
                <a:spcPts val="2400"/>
              </a:lnSpc>
              <a:spcAft>
                <a:spcPts val="1000"/>
              </a:spcAft>
              <a:buSzPct val="100000"/>
              <a:buChar char="•"/>
            </a:pPr>
            <a:r>
              <a:rPr lang="en-US" sz="1600" dirty="0">
                <a:solidFill>
                  <a:srgbClr val="2C3E50"/>
                </a:solidFill>
                <a:latin typeface="Calibri" pitchFamily="34" charset="0"/>
                <a:ea typeface="Calibri" pitchFamily="34" charset="-122"/>
                <a:cs typeface="Calibri" pitchFamily="34" charset="-120"/>
              </a:rPr>
              <a:t>A GPS coordinate alone does not reveal whether a location is urban, a town, or rural, yet medicine access, provider density, and malaria risk vary sharply by settlement type.</a:t>
            </a:r>
            <a:endParaRPr lang="en-US" sz="1600" dirty="0"/>
          </a:p>
          <a:p>
            <a:pPr marL="342900" indent="-342900">
              <a:lnSpc>
                <a:spcPts val="2400"/>
              </a:lnSpc>
              <a:spcAft>
                <a:spcPts val="1000"/>
              </a:spcAft>
              <a:buSzPct val="100000"/>
              <a:buChar char="•"/>
            </a:pPr>
            <a:r>
              <a:rPr lang="en-US" sz="1600" dirty="0">
                <a:solidFill>
                  <a:srgbClr val="2C3E50"/>
                </a:solidFill>
                <a:latin typeface="Calibri" pitchFamily="34" charset="0"/>
                <a:ea typeface="Calibri" pitchFamily="34" charset="-122"/>
                <a:cs typeface="Calibri" pitchFamily="34" charset="-120"/>
              </a:rPr>
              <a:t>GeoHealth V1 classifies any Nigerian location by settlement type through a simple map interface, with no specialist GIS software required.</a:t>
            </a:r>
            <a:endParaRPr lang="en-US" sz="1600" dirty="0"/>
          </a:p>
          <a:p>
            <a:pPr marL="342900" indent="-342900">
              <a:lnSpc>
                <a:spcPts val="2400"/>
              </a:lnSpc>
              <a:spcAft>
                <a:spcPts val="1000"/>
              </a:spcAft>
              <a:buSzPct val="100000"/>
              <a:buChar char="•"/>
            </a:pPr>
            <a:r>
              <a:rPr lang="en-US" sz="1600" dirty="0">
                <a:solidFill>
                  <a:srgbClr val="2C3E50"/>
                </a:solidFill>
                <a:latin typeface="Calibri" pitchFamily="34" charset="0"/>
                <a:ea typeface="Calibri" pitchFamily="34" charset="-122"/>
                <a:cs typeface="Calibri" pitchFamily="34" charset="-120"/>
              </a:rPr>
              <a:t>Value is amplified by existing assets: ~80,000 georeferenced malaria survey responses, an NMEP partnership, product traceability, and a usage tracker.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7680960" y="274320"/>
            <a:ext cx="1371600" cy="228600"/>
          </a:xfrm>
          <a:prstGeom prst="rect">
            <a:avLst/>
          </a:prstGeom>
          <a:noFill/>
          <a:ln/>
        </p:spPr>
        <p:txBody>
          <a:bodyPr wrap="square" rtlCol="0" anchor="ctr"/>
          <a:lstStyle/>
          <a:p>
            <a:pPr algn="r" indent="0" marL="0">
              <a:buNone/>
            </a:pPr>
            <a:r>
              <a:rPr lang="en-US" sz="1300" b="1" spc="200" kern="0" dirty="0">
                <a:solidFill>
                  <a:srgbClr val="0D98BA"/>
                </a:solidFill>
                <a:latin typeface="Calibri" pitchFamily="34" charset="0"/>
                <a:ea typeface="Calibri" pitchFamily="34" charset="-122"/>
                <a:cs typeface="Calibri" pitchFamily="34" charset="-120"/>
              </a:rPr>
              <a:t>SPROXIL</a:t>
            </a:r>
            <a:endParaRPr lang="en-US" sz="1300" dirty="0"/>
          </a:p>
        </p:txBody>
      </p:sp>
      <p:sp>
        <p:nvSpPr>
          <p:cNvPr id="3" name="Text 1"/>
          <p:cNvSpPr/>
          <p:nvPr/>
        </p:nvSpPr>
        <p:spPr>
          <a:xfrm>
            <a:off x="457200" y="320040"/>
            <a:ext cx="7132320" cy="548640"/>
          </a:xfrm>
          <a:prstGeom prst="rect">
            <a:avLst/>
          </a:prstGeom>
          <a:noFill/>
          <a:ln/>
        </p:spPr>
        <p:txBody>
          <a:bodyPr wrap="square" rtlCol="0" anchor="ctr"/>
          <a:lstStyle/>
          <a:p>
            <a:pPr indent="0" marL="0">
              <a:buNone/>
            </a:pPr>
            <a:r>
              <a:rPr lang="en-US" sz="2800" b="1" dirty="0">
                <a:solidFill>
                  <a:srgbClr val="1E3A5F"/>
                </a:solidFill>
                <a:latin typeface="Calibri" pitchFamily="34" charset="0"/>
                <a:ea typeface="Calibri" pitchFamily="34" charset="-122"/>
                <a:cs typeface="Calibri" pitchFamily="34" charset="-120"/>
              </a:rPr>
              <a:t>Results Framework</a:t>
            </a:r>
            <a:endParaRPr lang="en-US" sz="2800" dirty="0"/>
          </a:p>
        </p:txBody>
      </p:sp>
      <p:sp>
        <p:nvSpPr>
          <p:cNvPr id="4" name="Shape 2"/>
          <p:cNvSpPr/>
          <p:nvPr/>
        </p:nvSpPr>
        <p:spPr>
          <a:xfrm>
            <a:off x="457200" y="914400"/>
            <a:ext cx="8229600" cy="36576"/>
          </a:xfrm>
          <a:prstGeom prst="rect">
            <a:avLst/>
          </a:prstGeom>
          <a:solidFill>
            <a:srgbClr val="0D98BA"/>
          </a:solidFill>
          <a:ln/>
        </p:spPr>
      </p:sp>
      <p:sp>
        <p:nvSpPr>
          <p:cNvPr id="5" name="Shape 3"/>
          <p:cNvSpPr/>
          <p:nvPr/>
        </p:nvSpPr>
        <p:spPr>
          <a:xfrm>
            <a:off x="457200" y="1234440"/>
            <a:ext cx="8229600" cy="502920"/>
          </a:xfrm>
          <a:prstGeom prst="rect">
            <a:avLst/>
          </a:prstGeom>
          <a:solidFill>
            <a:srgbClr val="0D6E8C"/>
          </a:solidFill>
          <a:ln/>
        </p:spPr>
      </p:sp>
      <p:sp>
        <p:nvSpPr>
          <p:cNvPr id="6" name="Text 4"/>
          <p:cNvSpPr/>
          <p:nvPr/>
        </p:nvSpPr>
        <p:spPr>
          <a:xfrm>
            <a:off x="530352" y="1234440"/>
            <a:ext cx="2816352" cy="5029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Commitment</a:t>
            </a:r>
            <a:endParaRPr lang="en-US" sz="1150" dirty="0"/>
          </a:p>
        </p:txBody>
      </p:sp>
      <p:sp>
        <p:nvSpPr>
          <p:cNvPr id="7" name="Text 5"/>
          <p:cNvSpPr/>
          <p:nvPr/>
        </p:nvSpPr>
        <p:spPr>
          <a:xfrm>
            <a:off x="3456432" y="1234440"/>
            <a:ext cx="3364992" cy="5029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Output delivered</a:t>
            </a:r>
            <a:endParaRPr lang="en-US" sz="1150" dirty="0"/>
          </a:p>
        </p:txBody>
      </p:sp>
      <p:sp>
        <p:nvSpPr>
          <p:cNvPr id="8" name="Text 6"/>
          <p:cNvSpPr/>
          <p:nvPr/>
        </p:nvSpPr>
        <p:spPr>
          <a:xfrm>
            <a:off x="6931152" y="1234440"/>
            <a:ext cx="1719072" cy="5029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p>
        </p:txBody>
      </p:sp>
      <p:sp>
        <p:nvSpPr>
          <p:cNvPr id="9" name="Shape 7"/>
          <p:cNvSpPr/>
          <p:nvPr/>
        </p:nvSpPr>
        <p:spPr>
          <a:xfrm>
            <a:off x="457200" y="1755648"/>
            <a:ext cx="8229600" cy="502920"/>
          </a:xfrm>
          <a:prstGeom prst="rect">
            <a:avLst/>
          </a:prstGeom>
          <a:solidFill>
            <a:srgbClr val="E9F0F4"/>
          </a:solidFill>
          <a:ln/>
        </p:spPr>
      </p:sp>
      <p:sp>
        <p:nvSpPr>
          <p:cNvPr id="10" name="Text 8"/>
          <p:cNvSpPr/>
          <p:nvPr/>
        </p:nvSpPr>
        <p:spPr>
          <a:xfrm>
            <a:off x="530352" y="1755648"/>
            <a:ext cx="281635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Cloud-native geospatial methods</a:t>
            </a:r>
            <a:endParaRPr lang="en-US" sz="1150" dirty="0"/>
          </a:p>
        </p:txBody>
      </p:sp>
      <p:sp>
        <p:nvSpPr>
          <p:cNvPr id="11" name="Text 9"/>
          <p:cNvSpPr/>
          <p:nvPr/>
        </p:nvSpPr>
        <p:spPr>
          <a:xfrm>
            <a:off x="3456432" y="1755648"/>
            <a:ext cx="33649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GHS-SMOD classification via cloud tool</a:t>
            </a:r>
            <a:endParaRPr lang="en-US" sz="1150" dirty="0"/>
          </a:p>
        </p:txBody>
      </p:sp>
      <p:sp>
        <p:nvSpPr>
          <p:cNvPr id="12" name="Text 10"/>
          <p:cNvSpPr/>
          <p:nvPr/>
        </p:nvSpPr>
        <p:spPr>
          <a:xfrm>
            <a:off x="6931152" y="1755648"/>
            <a:ext cx="171907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Delivered</a:t>
            </a:r>
            <a:endParaRPr lang="en-US" sz="1150" dirty="0"/>
          </a:p>
        </p:txBody>
      </p:sp>
      <p:sp>
        <p:nvSpPr>
          <p:cNvPr id="13" name="Shape 11"/>
          <p:cNvSpPr/>
          <p:nvPr/>
        </p:nvSpPr>
        <p:spPr>
          <a:xfrm>
            <a:off x="457200" y="2276856"/>
            <a:ext cx="8229600" cy="502920"/>
          </a:xfrm>
          <a:prstGeom prst="rect">
            <a:avLst/>
          </a:prstGeom>
          <a:solidFill>
            <a:srgbClr val="FFFFFF"/>
          </a:solidFill>
          <a:ln/>
        </p:spPr>
      </p:sp>
      <p:sp>
        <p:nvSpPr>
          <p:cNvPr id="14" name="Text 12"/>
          <p:cNvSpPr/>
          <p:nvPr/>
        </p:nvSpPr>
        <p:spPr>
          <a:xfrm>
            <a:off x="530352" y="2276856"/>
            <a:ext cx="281635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Generative AI accessibility layer</a:t>
            </a:r>
            <a:endParaRPr lang="en-US" sz="1150" dirty="0"/>
          </a:p>
        </p:txBody>
      </p:sp>
      <p:sp>
        <p:nvSpPr>
          <p:cNvPr id="15" name="Text 13"/>
          <p:cNvSpPr/>
          <p:nvPr/>
        </p:nvSpPr>
        <p:spPr>
          <a:xfrm>
            <a:off x="3456432" y="2276856"/>
            <a:ext cx="33649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NL query and interpretation</a:t>
            </a:r>
            <a:endParaRPr lang="en-US" sz="1150" dirty="0"/>
          </a:p>
        </p:txBody>
      </p:sp>
      <p:sp>
        <p:nvSpPr>
          <p:cNvPr id="16" name="Text 14"/>
          <p:cNvSpPr/>
          <p:nvPr/>
        </p:nvSpPr>
        <p:spPr>
          <a:xfrm>
            <a:off x="6931152" y="2276856"/>
            <a:ext cx="171907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Confirm status</a:t>
            </a:r>
            <a:endParaRPr lang="en-US" sz="1150" dirty="0"/>
          </a:p>
        </p:txBody>
      </p:sp>
      <p:sp>
        <p:nvSpPr>
          <p:cNvPr id="17" name="Shape 15"/>
          <p:cNvSpPr/>
          <p:nvPr/>
        </p:nvSpPr>
        <p:spPr>
          <a:xfrm>
            <a:off x="457200" y="2798064"/>
            <a:ext cx="8229600" cy="502920"/>
          </a:xfrm>
          <a:prstGeom prst="rect">
            <a:avLst/>
          </a:prstGeom>
          <a:solidFill>
            <a:srgbClr val="E9F0F4"/>
          </a:solidFill>
          <a:ln/>
        </p:spPr>
      </p:sp>
      <p:sp>
        <p:nvSpPr>
          <p:cNvPr id="18" name="Text 16"/>
          <p:cNvSpPr/>
          <p:nvPr/>
        </p:nvSpPr>
        <p:spPr>
          <a:xfrm>
            <a:off x="530352" y="2798064"/>
            <a:ext cx="281635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Working prototype in period</a:t>
            </a:r>
            <a:endParaRPr lang="en-US" sz="1150" dirty="0"/>
          </a:p>
        </p:txBody>
      </p:sp>
      <p:sp>
        <p:nvSpPr>
          <p:cNvPr id="19" name="Text 17"/>
          <p:cNvSpPr/>
          <p:nvPr/>
        </p:nvSpPr>
        <p:spPr>
          <a:xfrm>
            <a:off x="3456432" y="2798064"/>
            <a:ext cx="33649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GeoHealth V1 deployed publicly</a:t>
            </a:r>
            <a:endParaRPr lang="en-US" sz="1150" dirty="0"/>
          </a:p>
        </p:txBody>
      </p:sp>
      <p:sp>
        <p:nvSpPr>
          <p:cNvPr id="20" name="Text 18"/>
          <p:cNvSpPr/>
          <p:nvPr/>
        </p:nvSpPr>
        <p:spPr>
          <a:xfrm>
            <a:off x="6931152" y="2798064"/>
            <a:ext cx="171907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Delivered</a:t>
            </a:r>
            <a:endParaRPr lang="en-US" sz="1150" dirty="0"/>
          </a:p>
        </p:txBody>
      </p:sp>
      <p:sp>
        <p:nvSpPr>
          <p:cNvPr id="21" name="Shape 19"/>
          <p:cNvSpPr/>
          <p:nvPr/>
        </p:nvSpPr>
        <p:spPr>
          <a:xfrm>
            <a:off x="457200" y="3319272"/>
            <a:ext cx="8229600" cy="502920"/>
          </a:xfrm>
          <a:prstGeom prst="rect">
            <a:avLst/>
          </a:prstGeom>
          <a:solidFill>
            <a:srgbClr val="FFFFFF"/>
          </a:solidFill>
          <a:ln/>
        </p:spPr>
      </p:sp>
      <p:sp>
        <p:nvSpPr>
          <p:cNvPr id="22" name="Text 20"/>
          <p:cNvSpPr/>
          <p:nvPr/>
        </p:nvSpPr>
        <p:spPr>
          <a:xfrm>
            <a:off x="530352" y="3319272"/>
            <a:ext cx="281635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Groundwork for replication</a:t>
            </a:r>
            <a:endParaRPr lang="en-US" sz="1150" dirty="0"/>
          </a:p>
        </p:txBody>
      </p:sp>
      <p:sp>
        <p:nvSpPr>
          <p:cNvPr id="23" name="Text 21"/>
          <p:cNvSpPr/>
          <p:nvPr/>
        </p:nvSpPr>
        <p:spPr>
          <a:xfrm>
            <a:off x="3456432" y="3319272"/>
            <a:ext cx="33649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Reusable engine, data, NMEP MOU</a:t>
            </a:r>
            <a:endParaRPr lang="en-US" sz="1150" dirty="0"/>
          </a:p>
        </p:txBody>
      </p:sp>
      <p:sp>
        <p:nvSpPr>
          <p:cNvPr id="24" name="Text 22"/>
          <p:cNvSpPr/>
          <p:nvPr/>
        </p:nvSpPr>
        <p:spPr>
          <a:xfrm>
            <a:off x="6931152" y="3319272"/>
            <a:ext cx="171907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Delivered / ongoing</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7680960" y="274320"/>
            <a:ext cx="1371600" cy="228600"/>
          </a:xfrm>
          <a:prstGeom prst="rect">
            <a:avLst/>
          </a:prstGeom>
          <a:noFill/>
          <a:ln/>
        </p:spPr>
        <p:txBody>
          <a:bodyPr wrap="square" rtlCol="0" anchor="ctr"/>
          <a:lstStyle/>
          <a:p>
            <a:pPr algn="r" indent="0" marL="0">
              <a:buNone/>
            </a:pPr>
            <a:r>
              <a:rPr lang="en-US" sz="1300" b="1" spc="200" kern="0" dirty="0">
                <a:solidFill>
                  <a:srgbClr val="0D98BA"/>
                </a:solidFill>
                <a:latin typeface="Calibri" pitchFamily="34" charset="0"/>
                <a:ea typeface="Calibri" pitchFamily="34" charset="-122"/>
                <a:cs typeface="Calibri" pitchFamily="34" charset="-120"/>
              </a:rPr>
              <a:t>SPROXIL</a:t>
            </a:r>
            <a:endParaRPr lang="en-US" sz="1300" dirty="0"/>
          </a:p>
        </p:txBody>
      </p:sp>
      <p:sp>
        <p:nvSpPr>
          <p:cNvPr id="3" name="Text 1"/>
          <p:cNvSpPr/>
          <p:nvPr/>
        </p:nvSpPr>
        <p:spPr>
          <a:xfrm>
            <a:off x="457200" y="320040"/>
            <a:ext cx="7132320" cy="548640"/>
          </a:xfrm>
          <a:prstGeom prst="rect">
            <a:avLst/>
          </a:prstGeom>
          <a:noFill/>
          <a:ln/>
        </p:spPr>
        <p:txBody>
          <a:bodyPr wrap="square" rtlCol="0" anchor="ctr"/>
          <a:lstStyle/>
          <a:p>
            <a:pPr indent="0" marL="0">
              <a:buNone/>
            </a:pPr>
            <a:r>
              <a:rPr lang="en-US" sz="2800" b="1" dirty="0">
                <a:solidFill>
                  <a:srgbClr val="1E3A5F"/>
                </a:solidFill>
                <a:latin typeface="Calibri" pitchFamily="34" charset="0"/>
                <a:ea typeface="Calibri" pitchFamily="34" charset="-122"/>
                <a:cs typeface="Calibri" pitchFamily="34" charset="-120"/>
              </a:rPr>
              <a:t>The Prototype: GeoHealth V1</a:t>
            </a:r>
            <a:endParaRPr lang="en-US" sz="2800" dirty="0"/>
          </a:p>
        </p:txBody>
      </p:sp>
      <p:sp>
        <p:nvSpPr>
          <p:cNvPr id="4" name="Shape 2"/>
          <p:cNvSpPr/>
          <p:nvPr/>
        </p:nvSpPr>
        <p:spPr>
          <a:xfrm>
            <a:off x="457200" y="914400"/>
            <a:ext cx="8229600" cy="36576"/>
          </a:xfrm>
          <a:prstGeom prst="rect">
            <a:avLst/>
          </a:prstGeom>
          <a:solidFill>
            <a:srgbClr val="0D98BA"/>
          </a:solidFill>
          <a:ln/>
        </p:spPr>
      </p:sp>
      <p:sp>
        <p:nvSpPr>
          <p:cNvPr id="5" name="Text 3"/>
          <p:cNvSpPr/>
          <p:nvPr/>
        </p:nvSpPr>
        <p:spPr>
          <a:xfrm>
            <a:off x="457200" y="1051560"/>
            <a:ext cx="8229600" cy="274320"/>
          </a:xfrm>
          <a:prstGeom prst="rect">
            <a:avLst/>
          </a:prstGeom>
          <a:noFill/>
          <a:ln/>
        </p:spPr>
        <p:txBody>
          <a:bodyPr wrap="square" rtlCol="0" anchor="ctr"/>
          <a:lstStyle/>
          <a:p>
            <a:pPr indent="0" marL="0">
              <a:buNone/>
            </a:pPr>
            <a:r>
              <a:rPr lang="en-US" sz="1500" i="1" dirty="0">
                <a:solidFill>
                  <a:srgbClr val="0D6E8C"/>
                </a:solidFill>
                <a:latin typeface="Calibri" pitchFamily="34" charset="0"/>
                <a:ea typeface="Calibri" pitchFamily="34" charset="-122"/>
                <a:cs typeface="Calibri" pitchFamily="34" charset="-120"/>
              </a:rPr>
              <a:t>geospatial-sigma.vercel.app</a:t>
            </a:r>
            <a:endParaRPr lang="en-US" sz="1500" dirty="0"/>
          </a:p>
        </p:txBody>
      </p:sp>
      <p:sp>
        <p:nvSpPr>
          <p:cNvPr id="6" name="Shape 4"/>
          <p:cNvSpPr/>
          <p:nvPr/>
        </p:nvSpPr>
        <p:spPr>
          <a:xfrm>
            <a:off x="457200" y="1463040"/>
            <a:ext cx="8229600" cy="502920"/>
          </a:xfrm>
          <a:prstGeom prst="rect">
            <a:avLst/>
          </a:prstGeom>
          <a:solidFill>
            <a:srgbClr val="FFFFFF"/>
          </a:solidFill>
          <a:ln/>
        </p:spPr>
      </p:sp>
      <p:sp>
        <p:nvSpPr>
          <p:cNvPr id="7" name="Text 5"/>
          <p:cNvSpPr/>
          <p:nvPr/>
        </p:nvSpPr>
        <p:spPr>
          <a:xfrm>
            <a:off x="530352" y="1463040"/>
            <a:ext cx="208483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Input</a:t>
            </a:r>
            <a:endParaRPr lang="en-US" sz="1150" dirty="0"/>
          </a:p>
        </p:txBody>
      </p:sp>
      <p:sp>
        <p:nvSpPr>
          <p:cNvPr id="8" name="Text 6"/>
          <p:cNvSpPr/>
          <p:nvPr/>
        </p:nvSpPr>
        <p:spPr>
          <a:xfrm>
            <a:off x="2724912" y="1463040"/>
            <a:ext cx="592531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Click the map of Nigeria, or enter latitude and longitude</a:t>
            </a:r>
            <a:endParaRPr lang="en-US" sz="1150" dirty="0"/>
          </a:p>
        </p:txBody>
      </p:sp>
      <p:sp>
        <p:nvSpPr>
          <p:cNvPr id="9" name="Shape 7"/>
          <p:cNvSpPr/>
          <p:nvPr/>
        </p:nvSpPr>
        <p:spPr>
          <a:xfrm>
            <a:off x="457200" y="1984248"/>
            <a:ext cx="8229600" cy="502920"/>
          </a:xfrm>
          <a:prstGeom prst="rect">
            <a:avLst/>
          </a:prstGeom>
          <a:solidFill>
            <a:srgbClr val="E9F0F4"/>
          </a:solidFill>
          <a:ln/>
        </p:spPr>
      </p:sp>
      <p:sp>
        <p:nvSpPr>
          <p:cNvPr id="10" name="Text 8"/>
          <p:cNvSpPr/>
          <p:nvPr/>
        </p:nvSpPr>
        <p:spPr>
          <a:xfrm>
            <a:off x="530352" y="1984248"/>
            <a:ext cx="208483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Classification</a:t>
            </a:r>
            <a:endParaRPr lang="en-US" sz="1150" dirty="0"/>
          </a:p>
        </p:txBody>
      </p:sp>
      <p:sp>
        <p:nvSpPr>
          <p:cNvPr id="11" name="Text 9"/>
          <p:cNvSpPr/>
          <p:nvPr/>
        </p:nvSpPr>
        <p:spPr>
          <a:xfrm>
            <a:off x="2724912" y="1984248"/>
            <a:ext cx="592531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Urban Centre (30), Urban Cluster (21-23), Rural (11-13), Water/No Data (10)</a:t>
            </a:r>
            <a:endParaRPr lang="en-US" sz="1150" dirty="0"/>
          </a:p>
        </p:txBody>
      </p:sp>
      <p:sp>
        <p:nvSpPr>
          <p:cNvPr id="12" name="Shape 10"/>
          <p:cNvSpPr/>
          <p:nvPr/>
        </p:nvSpPr>
        <p:spPr>
          <a:xfrm>
            <a:off x="457200" y="2505456"/>
            <a:ext cx="8229600" cy="502920"/>
          </a:xfrm>
          <a:prstGeom prst="rect">
            <a:avLst/>
          </a:prstGeom>
          <a:solidFill>
            <a:srgbClr val="FFFFFF"/>
          </a:solidFill>
          <a:ln/>
        </p:spPr>
      </p:sp>
      <p:sp>
        <p:nvSpPr>
          <p:cNvPr id="13" name="Text 11"/>
          <p:cNvSpPr/>
          <p:nvPr/>
        </p:nvSpPr>
        <p:spPr>
          <a:xfrm>
            <a:off x="530352" y="2505456"/>
            <a:ext cx="208483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Output</a:t>
            </a:r>
            <a:endParaRPr lang="en-US" sz="1150" dirty="0"/>
          </a:p>
        </p:txBody>
      </p:sp>
      <p:sp>
        <p:nvSpPr>
          <p:cNvPr id="14" name="Text 12"/>
          <p:cNvSpPr/>
          <p:nvPr/>
        </p:nvSpPr>
        <p:spPr>
          <a:xfrm>
            <a:off x="2724912" y="2505456"/>
            <a:ext cx="592531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Instant settlement classification with visual feedback</a:t>
            </a:r>
            <a:endParaRPr lang="en-US" sz="1150" dirty="0"/>
          </a:p>
        </p:txBody>
      </p:sp>
      <p:sp>
        <p:nvSpPr>
          <p:cNvPr id="15" name="Shape 13"/>
          <p:cNvSpPr/>
          <p:nvPr/>
        </p:nvSpPr>
        <p:spPr>
          <a:xfrm>
            <a:off x="457200" y="3026664"/>
            <a:ext cx="8229600" cy="502920"/>
          </a:xfrm>
          <a:prstGeom prst="rect">
            <a:avLst/>
          </a:prstGeom>
          <a:solidFill>
            <a:srgbClr val="E9F0F4"/>
          </a:solidFill>
          <a:ln/>
        </p:spPr>
      </p:sp>
      <p:sp>
        <p:nvSpPr>
          <p:cNvPr id="16" name="Text 14"/>
          <p:cNvSpPr/>
          <p:nvPr/>
        </p:nvSpPr>
        <p:spPr>
          <a:xfrm>
            <a:off x="530352" y="3026664"/>
            <a:ext cx="208483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Access</a:t>
            </a:r>
            <a:endParaRPr lang="en-US" sz="1150" dirty="0"/>
          </a:p>
        </p:txBody>
      </p:sp>
      <p:sp>
        <p:nvSpPr>
          <p:cNvPr id="17" name="Text 15"/>
          <p:cNvSpPr/>
          <p:nvPr/>
        </p:nvSpPr>
        <p:spPr>
          <a:xfrm>
            <a:off x="2724912" y="3026664"/>
            <a:ext cx="592531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Browser-based, no specialist GIS software</a:t>
            </a:r>
            <a:endParaRPr lang="en-US" sz="1150" dirty="0"/>
          </a:p>
        </p:txBody>
      </p:sp>
      <p:sp>
        <p:nvSpPr>
          <p:cNvPr id="18" name="Shape 16"/>
          <p:cNvSpPr/>
          <p:nvPr/>
        </p:nvSpPr>
        <p:spPr>
          <a:xfrm>
            <a:off x="457200" y="3547872"/>
            <a:ext cx="8229600" cy="502920"/>
          </a:xfrm>
          <a:prstGeom prst="rect">
            <a:avLst/>
          </a:prstGeom>
          <a:solidFill>
            <a:srgbClr val="FFFFFF"/>
          </a:solidFill>
          <a:ln/>
        </p:spPr>
      </p:sp>
      <p:sp>
        <p:nvSpPr>
          <p:cNvPr id="19" name="Text 17"/>
          <p:cNvSpPr/>
          <p:nvPr/>
        </p:nvSpPr>
        <p:spPr>
          <a:xfrm>
            <a:off x="530352" y="3547872"/>
            <a:ext cx="208483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Hosting</a:t>
            </a:r>
            <a:endParaRPr lang="en-US" sz="1150" dirty="0"/>
          </a:p>
        </p:txBody>
      </p:sp>
      <p:sp>
        <p:nvSpPr>
          <p:cNvPr id="20" name="Text 18"/>
          <p:cNvSpPr/>
          <p:nvPr/>
        </p:nvSpPr>
        <p:spPr>
          <a:xfrm>
            <a:off x="2724912" y="3547872"/>
            <a:ext cx="592531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Cloud-deployed for public access and easy scaling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7680960" y="274320"/>
            <a:ext cx="1371600" cy="228600"/>
          </a:xfrm>
          <a:prstGeom prst="rect">
            <a:avLst/>
          </a:prstGeom>
          <a:noFill/>
          <a:ln/>
        </p:spPr>
        <p:txBody>
          <a:bodyPr wrap="square" rtlCol="0" anchor="ctr"/>
          <a:lstStyle/>
          <a:p>
            <a:pPr algn="r" indent="0" marL="0">
              <a:buNone/>
            </a:pPr>
            <a:r>
              <a:rPr lang="en-US" sz="1300" b="1" spc="200" kern="0" dirty="0">
                <a:solidFill>
                  <a:srgbClr val="0D98BA"/>
                </a:solidFill>
                <a:latin typeface="Calibri" pitchFamily="34" charset="0"/>
                <a:ea typeface="Calibri" pitchFamily="34" charset="-122"/>
                <a:cs typeface="Calibri" pitchFamily="34" charset="-120"/>
              </a:rPr>
              <a:t>SPROXIL</a:t>
            </a:r>
            <a:endParaRPr lang="en-US" sz="1300" dirty="0"/>
          </a:p>
        </p:txBody>
      </p:sp>
      <p:sp>
        <p:nvSpPr>
          <p:cNvPr id="3" name="Text 1"/>
          <p:cNvSpPr/>
          <p:nvPr/>
        </p:nvSpPr>
        <p:spPr>
          <a:xfrm>
            <a:off x="457200" y="320040"/>
            <a:ext cx="7132320" cy="548640"/>
          </a:xfrm>
          <a:prstGeom prst="rect">
            <a:avLst/>
          </a:prstGeom>
          <a:noFill/>
          <a:ln/>
        </p:spPr>
        <p:txBody>
          <a:bodyPr wrap="square" rtlCol="0" anchor="ctr"/>
          <a:lstStyle/>
          <a:p>
            <a:pPr indent="0" marL="0">
              <a:buNone/>
            </a:pPr>
            <a:r>
              <a:rPr lang="en-US" sz="2800" b="1" dirty="0">
                <a:solidFill>
                  <a:srgbClr val="1E3A5F"/>
                </a:solidFill>
                <a:latin typeface="Calibri" pitchFamily="34" charset="0"/>
                <a:ea typeface="Calibri" pitchFamily="34" charset="-122"/>
                <a:cs typeface="Calibri" pitchFamily="34" charset="-120"/>
              </a:rPr>
              <a:t>Data Assets and Institutional Foundation</a:t>
            </a:r>
            <a:endParaRPr lang="en-US" sz="2800" dirty="0"/>
          </a:p>
        </p:txBody>
      </p:sp>
      <p:sp>
        <p:nvSpPr>
          <p:cNvPr id="4" name="Shape 2"/>
          <p:cNvSpPr/>
          <p:nvPr/>
        </p:nvSpPr>
        <p:spPr>
          <a:xfrm>
            <a:off x="457200" y="914400"/>
            <a:ext cx="8229600" cy="36576"/>
          </a:xfrm>
          <a:prstGeom prst="rect">
            <a:avLst/>
          </a:prstGeom>
          <a:solidFill>
            <a:srgbClr val="0D98BA"/>
          </a:solidFill>
          <a:ln/>
        </p:spPr>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i="1" dirty="0">
                <a:solidFill>
                  <a:srgbClr val="0D6E8C"/>
                </a:solidFill>
                <a:latin typeface="Calibri" pitchFamily="34" charset="0"/>
                <a:ea typeface="Calibri" pitchFamily="34" charset="-122"/>
                <a:cs typeface="Calibri" pitchFamily="34" charset="-120"/>
              </a:rPr>
              <a:t>GeoHealth V1 turns Sproxil's existing geolocated data into settlement-classified intelligence.</a:t>
            </a:r>
            <a:endParaRPr lang="en-US" sz="1400" dirty="0"/>
          </a:p>
        </p:txBody>
      </p:sp>
      <p:sp>
        <p:nvSpPr>
          <p:cNvPr id="6" name="Shape 4"/>
          <p:cNvSpPr/>
          <p:nvPr/>
        </p:nvSpPr>
        <p:spPr>
          <a:xfrm>
            <a:off x="457200" y="1554480"/>
            <a:ext cx="4023360" cy="1508760"/>
          </a:xfrm>
          <a:prstGeom prst="rect">
            <a:avLst/>
          </a:prstGeom>
          <a:solidFill>
            <a:srgbClr val="FFFFFF"/>
          </a:solidFill>
          <a:ln/>
        </p:spPr>
      </p:sp>
      <p:sp>
        <p:nvSpPr>
          <p:cNvPr id="7" name="Shape 5"/>
          <p:cNvSpPr/>
          <p:nvPr/>
        </p:nvSpPr>
        <p:spPr>
          <a:xfrm>
            <a:off x="457200" y="1554480"/>
            <a:ext cx="4023360" cy="64008"/>
          </a:xfrm>
          <a:prstGeom prst="rect">
            <a:avLst/>
          </a:prstGeom>
          <a:solidFill>
            <a:srgbClr val="0D6E8C"/>
          </a:solidFill>
          <a:ln/>
        </p:spPr>
      </p:sp>
      <p:sp>
        <p:nvSpPr>
          <p:cNvPr id="8" name="Text 6"/>
          <p:cNvSpPr/>
          <p:nvPr/>
        </p:nvSpPr>
        <p:spPr>
          <a:xfrm>
            <a:off x="594360" y="1691640"/>
            <a:ext cx="3749040" cy="32004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~80,000 Survey Responses</a:t>
            </a:r>
            <a:endParaRPr lang="en-US" sz="1600" dirty="0"/>
          </a:p>
        </p:txBody>
      </p:sp>
      <p:sp>
        <p:nvSpPr>
          <p:cNvPr id="9" name="Text 7"/>
          <p:cNvSpPr/>
          <p:nvPr/>
        </p:nvSpPr>
        <p:spPr>
          <a:xfrm>
            <a:off x="594360" y="2057400"/>
            <a:ext cx="3749040" cy="914400"/>
          </a:xfrm>
          <a:prstGeom prst="rect">
            <a:avLst/>
          </a:prstGeom>
          <a:noFill/>
          <a:ln/>
        </p:spPr>
        <p:txBody>
          <a:bodyPr wrap="square" rtlCol="0" anchor="ctr"/>
          <a:lstStyle/>
          <a:p>
            <a:pPr indent="0" marL="0">
              <a:lnSpc>
                <a:spcPts val="1500"/>
              </a:lnSpc>
              <a:buNone/>
            </a:pPr>
            <a:r>
              <a:rPr lang="en-US" sz="1150" dirty="0">
                <a:solidFill>
                  <a:srgbClr val="2C3E50"/>
                </a:solidFill>
                <a:latin typeface="Calibri" pitchFamily="34" charset="0"/>
                <a:ea typeface="Calibri" pitchFamily="34" charset="-122"/>
                <a:cs typeface="Calibri" pitchFamily="34" charset="-120"/>
              </a:rPr>
              <a:t>Georeferenced malaria survey responses across Nigeria. Each can be classified by settlement type, turning a national survey into a settlement-stratified dataset.</a:t>
            </a:r>
            <a:endParaRPr lang="en-US" sz="1150" dirty="0"/>
          </a:p>
        </p:txBody>
      </p:sp>
      <p:sp>
        <p:nvSpPr>
          <p:cNvPr id="10" name="Shape 8"/>
          <p:cNvSpPr/>
          <p:nvPr/>
        </p:nvSpPr>
        <p:spPr>
          <a:xfrm>
            <a:off x="4663440" y="1554480"/>
            <a:ext cx="4023360" cy="1508760"/>
          </a:xfrm>
          <a:prstGeom prst="rect">
            <a:avLst/>
          </a:prstGeom>
          <a:solidFill>
            <a:srgbClr val="FFFFFF"/>
          </a:solidFill>
          <a:ln/>
        </p:spPr>
      </p:sp>
      <p:sp>
        <p:nvSpPr>
          <p:cNvPr id="11" name="Shape 9"/>
          <p:cNvSpPr/>
          <p:nvPr/>
        </p:nvSpPr>
        <p:spPr>
          <a:xfrm>
            <a:off x="4663440" y="1554480"/>
            <a:ext cx="4023360" cy="64008"/>
          </a:xfrm>
          <a:prstGeom prst="rect">
            <a:avLst/>
          </a:prstGeom>
          <a:solidFill>
            <a:srgbClr val="00A896"/>
          </a:solidFill>
          <a:ln/>
        </p:spPr>
      </p:sp>
      <p:sp>
        <p:nvSpPr>
          <p:cNvPr id="12" name="Text 10"/>
          <p:cNvSpPr/>
          <p:nvPr/>
        </p:nvSpPr>
        <p:spPr>
          <a:xfrm>
            <a:off x="4800600" y="1691640"/>
            <a:ext cx="3749040" cy="32004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NMEP Partnership</a:t>
            </a:r>
            <a:endParaRPr lang="en-US" sz="1600" dirty="0"/>
          </a:p>
        </p:txBody>
      </p:sp>
      <p:sp>
        <p:nvSpPr>
          <p:cNvPr id="13" name="Text 11"/>
          <p:cNvSpPr/>
          <p:nvPr/>
        </p:nvSpPr>
        <p:spPr>
          <a:xfrm>
            <a:off x="4800600" y="2057400"/>
            <a:ext cx="3749040" cy="914400"/>
          </a:xfrm>
          <a:prstGeom prst="rect">
            <a:avLst/>
          </a:prstGeom>
          <a:noFill/>
          <a:ln/>
        </p:spPr>
        <p:txBody>
          <a:bodyPr wrap="square" rtlCol="0" anchor="ctr"/>
          <a:lstStyle/>
          <a:p>
            <a:pPr indent="0" marL="0">
              <a:lnSpc>
                <a:spcPts val="1500"/>
              </a:lnSpc>
              <a:buNone/>
            </a:pPr>
            <a:r>
              <a:rPr lang="en-US" sz="1150" dirty="0">
                <a:solidFill>
                  <a:srgbClr val="2C3E50"/>
                </a:solidFill>
                <a:latin typeface="Calibri" pitchFamily="34" charset="0"/>
                <a:ea typeface="Calibri" pitchFamily="34" charset="-122"/>
                <a:cs typeface="Calibri" pitchFamily="34" charset="-120"/>
              </a:rPr>
              <a:t>A memorandum of understanding with the National Malaria Elimination Programme embeds the capability within national programme work and policy use.</a:t>
            </a:r>
            <a:endParaRPr lang="en-US" sz="1150" dirty="0"/>
          </a:p>
        </p:txBody>
      </p:sp>
      <p:sp>
        <p:nvSpPr>
          <p:cNvPr id="14" name="Shape 12"/>
          <p:cNvSpPr/>
          <p:nvPr/>
        </p:nvSpPr>
        <p:spPr>
          <a:xfrm>
            <a:off x="457200" y="3200400"/>
            <a:ext cx="4023360" cy="1508760"/>
          </a:xfrm>
          <a:prstGeom prst="rect">
            <a:avLst/>
          </a:prstGeom>
          <a:solidFill>
            <a:srgbClr val="FFFFFF"/>
          </a:solidFill>
          <a:ln/>
        </p:spPr>
      </p:sp>
      <p:sp>
        <p:nvSpPr>
          <p:cNvPr id="15" name="Shape 13"/>
          <p:cNvSpPr/>
          <p:nvPr/>
        </p:nvSpPr>
        <p:spPr>
          <a:xfrm>
            <a:off x="457200" y="3200400"/>
            <a:ext cx="4023360" cy="64008"/>
          </a:xfrm>
          <a:prstGeom prst="rect">
            <a:avLst/>
          </a:prstGeom>
          <a:solidFill>
            <a:srgbClr val="0D98BA"/>
          </a:solidFill>
          <a:ln/>
        </p:spPr>
      </p:sp>
      <p:sp>
        <p:nvSpPr>
          <p:cNvPr id="16" name="Text 14"/>
          <p:cNvSpPr/>
          <p:nvPr/>
        </p:nvSpPr>
        <p:spPr>
          <a:xfrm>
            <a:off x="594360" y="3337560"/>
            <a:ext cx="3749040" cy="32004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Location Traceability</a:t>
            </a:r>
            <a:endParaRPr lang="en-US" sz="1600" dirty="0"/>
          </a:p>
        </p:txBody>
      </p:sp>
      <p:sp>
        <p:nvSpPr>
          <p:cNvPr id="17" name="Text 15"/>
          <p:cNvSpPr/>
          <p:nvPr/>
        </p:nvSpPr>
        <p:spPr>
          <a:xfrm>
            <a:off x="594360" y="3703320"/>
            <a:ext cx="3749040" cy="914400"/>
          </a:xfrm>
          <a:prstGeom prst="rect">
            <a:avLst/>
          </a:prstGeom>
          <a:noFill/>
          <a:ln/>
        </p:spPr>
        <p:txBody>
          <a:bodyPr wrap="square" rtlCol="0" anchor="ctr"/>
          <a:lstStyle/>
          <a:p>
            <a:pPr indent="0" marL="0">
              <a:lnSpc>
                <a:spcPts val="1500"/>
              </a:lnSpc>
              <a:buNone/>
            </a:pPr>
            <a:r>
              <a:rPr lang="en-US" sz="1150" dirty="0">
                <a:solidFill>
                  <a:srgbClr val="2C3E50"/>
                </a:solidFill>
                <a:latin typeface="Calibri" pitchFamily="34" charset="0"/>
                <a:ea typeface="Calibri" pitchFamily="34" charset="-122"/>
                <a:cs typeface="Calibri" pitchFamily="34" charset="-120"/>
              </a:rPr>
              <a:t>Product authentication and traceability tracked by location, mapping where verified medicines reach urban and rural populations.</a:t>
            </a:r>
            <a:endParaRPr lang="en-US" sz="1150" dirty="0"/>
          </a:p>
        </p:txBody>
      </p:sp>
      <p:sp>
        <p:nvSpPr>
          <p:cNvPr id="18" name="Shape 16"/>
          <p:cNvSpPr/>
          <p:nvPr/>
        </p:nvSpPr>
        <p:spPr>
          <a:xfrm>
            <a:off x="4663440" y="3200400"/>
            <a:ext cx="4023360" cy="1508760"/>
          </a:xfrm>
          <a:prstGeom prst="rect">
            <a:avLst/>
          </a:prstGeom>
          <a:solidFill>
            <a:srgbClr val="FFFFFF"/>
          </a:solidFill>
          <a:ln/>
        </p:spPr>
      </p:sp>
      <p:sp>
        <p:nvSpPr>
          <p:cNvPr id="19" name="Shape 17"/>
          <p:cNvSpPr/>
          <p:nvPr/>
        </p:nvSpPr>
        <p:spPr>
          <a:xfrm>
            <a:off x="4663440" y="3200400"/>
            <a:ext cx="4023360" cy="64008"/>
          </a:xfrm>
          <a:prstGeom prst="rect">
            <a:avLst/>
          </a:prstGeom>
          <a:solidFill>
            <a:srgbClr val="1E3A5F"/>
          </a:solidFill>
          <a:ln/>
        </p:spPr>
      </p:sp>
      <p:sp>
        <p:nvSpPr>
          <p:cNvPr id="20" name="Text 18"/>
          <p:cNvSpPr/>
          <p:nvPr/>
        </p:nvSpPr>
        <p:spPr>
          <a:xfrm>
            <a:off x="4800600" y="3337560"/>
            <a:ext cx="3749040" cy="32004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Product Usage Tracker</a:t>
            </a:r>
            <a:endParaRPr lang="en-US" sz="1600" dirty="0"/>
          </a:p>
        </p:txBody>
      </p:sp>
      <p:sp>
        <p:nvSpPr>
          <p:cNvPr id="21" name="Text 19"/>
          <p:cNvSpPr/>
          <p:nvPr/>
        </p:nvSpPr>
        <p:spPr>
          <a:xfrm>
            <a:off x="4800600" y="3703320"/>
            <a:ext cx="3749040" cy="914400"/>
          </a:xfrm>
          <a:prstGeom prst="rect">
            <a:avLst/>
          </a:prstGeom>
          <a:noFill/>
          <a:ln/>
        </p:spPr>
        <p:txBody>
          <a:bodyPr wrap="square" rtlCol="0" anchor="ctr"/>
          <a:lstStyle/>
          <a:p>
            <a:pPr indent="0" marL="0">
              <a:lnSpc>
                <a:spcPts val="1500"/>
              </a:lnSpc>
              <a:buNone/>
            </a:pPr>
            <a:r>
              <a:rPr lang="en-US" sz="1150" dirty="0">
                <a:solidFill>
                  <a:srgbClr val="2C3E50"/>
                </a:solidFill>
                <a:latin typeface="Calibri" pitchFamily="34" charset="0"/>
                <a:ea typeface="Calibri" pitchFamily="34" charset="-122"/>
                <a:cs typeface="Calibri" pitchFamily="34" charset="-120"/>
              </a:rPr>
              <a:t>Records where and how products are used. Combined with classification, it reveals usage patterns across the urban to rural gradient.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7680960" y="274320"/>
            <a:ext cx="1371600" cy="228600"/>
          </a:xfrm>
          <a:prstGeom prst="rect">
            <a:avLst/>
          </a:prstGeom>
          <a:noFill/>
          <a:ln/>
        </p:spPr>
        <p:txBody>
          <a:bodyPr wrap="square" rtlCol="0" anchor="ctr"/>
          <a:lstStyle/>
          <a:p>
            <a:pPr algn="r" indent="0" marL="0">
              <a:buNone/>
            </a:pPr>
            <a:r>
              <a:rPr lang="en-US" sz="1300" b="1" spc="200" kern="0" dirty="0">
                <a:solidFill>
                  <a:srgbClr val="0D98BA"/>
                </a:solidFill>
                <a:latin typeface="Calibri" pitchFamily="34" charset="0"/>
                <a:ea typeface="Calibri" pitchFamily="34" charset="-122"/>
                <a:cs typeface="Calibri" pitchFamily="34" charset="-120"/>
              </a:rPr>
              <a:t>SPROXIL</a:t>
            </a:r>
            <a:endParaRPr lang="en-US" sz="1300" dirty="0"/>
          </a:p>
        </p:txBody>
      </p:sp>
      <p:sp>
        <p:nvSpPr>
          <p:cNvPr id="3" name="Text 1"/>
          <p:cNvSpPr/>
          <p:nvPr/>
        </p:nvSpPr>
        <p:spPr>
          <a:xfrm>
            <a:off x="457200" y="320040"/>
            <a:ext cx="7132320" cy="548640"/>
          </a:xfrm>
          <a:prstGeom prst="rect">
            <a:avLst/>
          </a:prstGeom>
          <a:noFill/>
          <a:ln/>
        </p:spPr>
        <p:txBody>
          <a:bodyPr wrap="square" rtlCol="0" anchor="ctr"/>
          <a:lstStyle/>
          <a:p>
            <a:pPr indent="0" marL="0">
              <a:buNone/>
            </a:pPr>
            <a:r>
              <a:rPr lang="en-US" sz="2800" b="1" dirty="0">
                <a:solidFill>
                  <a:srgbClr val="1E3A5F"/>
                </a:solidFill>
                <a:latin typeface="Calibri" pitchFamily="34" charset="0"/>
                <a:ea typeface="Calibri" pitchFamily="34" charset="-122"/>
                <a:cs typeface="Calibri" pitchFamily="34" charset="-120"/>
              </a:rPr>
              <a:t>Technical Approach and Generative AI</a:t>
            </a:r>
            <a:endParaRPr lang="en-US" sz="2800" dirty="0"/>
          </a:p>
        </p:txBody>
      </p:sp>
      <p:sp>
        <p:nvSpPr>
          <p:cNvPr id="4" name="Shape 2"/>
          <p:cNvSpPr/>
          <p:nvPr/>
        </p:nvSpPr>
        <p:spPr>
          <a:xfrm>
            <a:off x="457200" y="914400"/>
            <a:ext cx="8229600" cy="36576"/>
          </a:xfrm>
          <a:prstGeom prst="rect">
            <a:avLst/>
          </a:prstGeom>
          <a:solidFill>
            <a:srgbClr val="0D98BA"/>
          </a:solidFill>
          <a:ln/>
        </p:spPr>
      </p:sp>
      <p:sp>
        <p:nvSpPr>
          <p:cNvPr id="5" name="Text 3"/>
          <p:cNvSpPr/>
          <p:nvPr/>
        </p:nvSpPr>
        <p:spPr>
          <a:xfrm>
            <a:off x="457200" y="1143000"/>
            <a:ext cx="3931920" cy="274320"/>
          </a:xfrm>
          <a:prstGeom prst="rect">
            <a:avLst/>
          </a:prstGeom>
          <a:noFill/>
          <a:ln/>
        </p:spPr>
        <p:txBody>
          <a:bodyPr wrap="square" rtlCol="0" anchor="ctr"/>
          <a:lstStyle/>
          <a:p>
            <a:pPr indent="0" marL="0">
              <a:buNone/>
            </a:pPr>
            <a:r>
              <a:rPr lang="en-US" sz="1800" b="1" dirty="0">
                <a:solidFill>
                  <a:srgbClr val="0D6E8C"/>
                </a:solidFill>
                <a:latin typeface="Calibri" pitchFamily="34" charset="0"/>
                <a:ea typeface="Calibri" pitchFamily="34" charset="-122"/>
                <a:cs typeface="Calibri" pitchFamily="34" charset="-120"/>
              </a:rPr>
              <a:t>Cloud-Native Design</a:t>
            </a:r>
            <a:endParaRPr lang="en-US" sz="1800" dirty="0"/>
          </a:p>
        </p:txBody>
      </p:sp>
      <p:sp>
        <p:nvSpPr>
          <p:cNvPr id="6" name="Text 4"/>
          <p:cNvSpPr/>
          <p:nvPr/>
        </p:nvSpPr>
        <p:spPr>
          <a:xfrm>
            <a:off x="457200" y="1508760"/>
            <a:ext cx="4023360" cy="2743200"/>
          </a:xfrm>
          <a:prstGeom prst="rect">
            <a:avLst/>
          </a:prstGeom>
          <a:noFill/>
          <a:ln/>
        </p:spPr>
        <p:txBody>
          <a:bodyPr wrap="square" rtlCol="0" anchor="ctr"/>
          <a:lstStyle/>
          <a:p>
            <a:pPr marL="342900" indent="-342900">
              <a:lnSpc>
                <a:spcPts val="1800"/>
              </a:lnSpc>
              <a:spcAft>
                <a:spcPts val="800"/>
              </a:spcAft>
              <a:buSzPct val="100000"/>
              <a:buChar char="•"/>
            </a:pPr>
            <a:r>
              <a:rPr lang="en-US" sz="1300" dirty="0">
                <a:solidFill>
                  <a:srgbClr val="2C3E50"/>
                </a:solidFill>
                <a:latin typeface="Calibri" pitchFamily="34" charset="0"/>
                <a:ea typeface="Calibri" pitchFamily="34" charset="-122"/>
                <a:cs typeface="Calibri" pitchFamily="34" charset="-120"/>
              </a:rPr>
              <a:t>Built on GHS-SMOD from the EC Joint Research Centre</a:t>
            </a:r>
            <a:endParaRPr lang="en-US" sz="1300" dirty="0"/>
          </a:p>
          <a:p>
            <a:pPr marL="342900" indent="-342900">
              <a:lnSpc>
                <a:spcPts val="1800"/>
              </a:lnSpc>
              <a:spcAft>
                <a:spcPts val="800"/>
              </a:spcAft>
              <a:buSzPct val="100000"/>
              <a:buChar char="•"/>
            </a:pPr>
            <a:r>
              <a:rPr lang="en-US" sz="1300" dirty="0">
                <a:solidFill>
                  <a:srgbClr val="2C3E50"/>
                </a:solidFill>
                <a:latin typeface="Calibri" pitchFamily="34" charset="0"/>
                <a:ea typeface="Calibri" pitchFamily="34" charset="-122"/>
                <a:cs typeface="Calibri" pitchFamily="34" charset="-120"/>
              </a:rPr>
              <a:t>Degree of Urbanisation method, endorsed by the UN (2020)</a:t>
            </a:r>
            <a:endParaRPr lang="en-US" sz="1300" dirty="0"/>
          </a:p>
          <a:p>
            <a:pPr marL="342900" indent="-342900">
              <a:lnSpc>
                <a:spcPts val="1800"/>
              </a:lnSpc>
              <a:spcAft>
                <a:spcPts val="800"/>
              </a:spcAft>
              <a:buSzPct val="100000"/>
              <a:buChar char="•"/>
            </a:pPr>
            <a:r>
              <a:rPr lang="en-US" sz="1300" dirty="0">
                <a:solidFill>
                  <a:srgbClr val="2C3E50"/>
                </a:solidFill>
                <a:latin typeface="Calibri" pitchFamily="34" charset="0"/>
                <a:ea typeface="Calibri" pitchFamily="34" charset="-122"/>
                <a:cs typeface="Calibri" pitchFamily="34" charset="-120"/>
              </a:rPr>
              <a:t>Modern web framework on a managed cloud platform</a:t>
            </a:r>
            <a:endParaRPr lang="en-US" sz="1300" dirty="0"/>
          </a:p>
          <a:p>
            <a:pPr marL="342900" indent="-342900">
              <a:lnSpc>
                <a:spcPts val="1800"/>
              </a:lnSpc>
              <a:spcAft>
                <a:spcPts val="800"/>
              </a:spcAft>
              <a:buSzPct val="100000"/>
              <a:buChar char="•"/>
            </a:pPr>
            <a:r>
              <a:rPr lang="en-US" sz="1300" dirty="0">
                <a:solidFill>
                  <a:srgbClr val="2C3E50"/>
                </a:solidFill>
                <a:latin typeface="Calibri" pitchFamily="34" charset="0"/>
                <a:ea typeface="Calibri" pitchFamily="34" charset="-122"/>
                <a:cs typeface="Calibri" pitchFamily="34" charset="-120"/>
              </a:rPr>
              <a:t>Scales with demand, no fixed local infrastructure</a:t>
            </a:r>
            <a:endParaRPr lang="en-US" sz="1300" dirty="0"/>
          </a:p>
        </p:txBody>
      </p:sp>
      <p:sp>
        <p:nvSpPr>
          <p:cNvPr id="7" name="Text 5"/>
          <p:cNvSpPr/>
          <p:nvPr/>
        </p:nvSpPr>
        <p:spPr>
          <a:xfrm>
            <a:off x="4663440" y="1143000"/>
            <a:ext cx="3931920" cy="274320"/>
          </a:xfrm>
          <a:prstGeom prst="rect">
            <a:avLst/>
          </a:prstGeom>
          <a:noFill/>
          <a:ln/>
        </p:spPr>
        <p:txBody>
          <a:bodyPr wrap="square" rtlCol="0" anchor="ctr"/>
          <a:lstStyle/>
          <a:p>
            <a:pPr indent="0" marL="0">
              <a:buNone/>
            </a:pPr>
            <a:r>
              <a:rPr lang="en-US" sz="1800" b="1" dirty="0">
                <a:solidFill>
                  <a:srgbClr val="00A896"/>
                </a:solidFill>
                <a:latin typeface="Calibri" pitchFamily="34" charset="0"/>
                <a:ea typeface="Calibri" pitchFamily="34" charset="-122"/>
                <a:cs typeface="Calibri" pitchFamily="34" charset="-120"/>
              </a:rPr>
              <a:t>Generative AI Layer</a:t>
            </a:r>
            <a:endParaRPr lang="en-US" sz="1800" dirty="0"/>
          </a:p>
        </p:txBody>
      </p:sp>
      <p:sp>
        <p:nvSpPr>
          <p:cNvPr id="8" name="Text 6"/>
          <p:cNvSpPr/>
          <p:nvPr/>
        </p:nvSpPr>
        <p:spPr>
          <a:xfrm>
            <a:off x="4663440" y="1508760"/>
            <a:ext cx="4023360" cy="2103120"/>
          </a:xfrm>
          <a:prstGeom prst="rect">
            <a:avLst/>
          </a:prstGeom>
          <a:noFill/>
          <a:ln/>
        </p:spPr>
        <p:txBody>
          <a:bodyPr wrap="square" rtlCol="0" anchor="ctr"/>
          <a:lstStyle/>
          <a:p>
            <a:pPr marL="342900" indent="-342900">
              <a:lnSpc>
                <a:spcPts val="1800"/>
              </a:lnSpc>
              <a:spcAft>
                <a:spcPts val="800"/>
              </a:spcAft>
              <a:buSzPct val="100000"/>
              <a:buChar char="•"/>
            </a:pPr>
            <a:r>
              <a:rPr lang="en-US" sz="1300" dirty="0">
                <a:solidFill>
                  <a:srgbClr val="2C3E50"/>
                </a:solidFill>
                <a:latin typeface="Calibri" pitchFamily="34" charset="0"/>
                <a:ea typeface="Calibri" pitchFamily="34" charset="-122"/>
                <a:cs typeface="Calibri" pitchFamily="34" charset="-120"/>
              </a:rPr>
              <a:t>Natural language querying of spatial and survey data</a:t>
            </a:r>
            <a:endParaRPr lang="en-US" sz="1300" dirty="0"/>
          </a:p>
          <a:p>
            <a:pPr marL="342900" indent="-342900">
              <a:lnSpc>
                <a:spcPts val="1800"/>
              </a:lnSpc>
              <a:spcAft>
                <a:spcPts val="800"/>
              </a:spcAft>
              <a:buSzPct val="100000"/>
              <a:buChar char="•"/>
            </a:pPr>
            <a:r>
              <a:rPr lang="en-US" sz="1300" dirty="0">
                <a:solidFill>
                  <a:srgbClr val="2C3E50"/>
                </a:solidFill>
                <a:latin typeface="Calibri" pitchFamily="34" charset="0"/>
                <a:ea typeface="Calibri" pitchFamily="34" charset="-122"/>
                <a:cs typeface="Calibri" pitchFamily="34" charset="-120"/>
              </a:rPr>
              <a:t>Automated plain-language interpretation of results</a:t>
            </a:r>
            <a:endParaRPr lang="en-US" sz="1300" dirty="0"/>
          </a:p>
          <a:p>
            <a:pPr marL="342900" indent="-342900">
              <a:lnSpc>
                <a:spcPts val="1800"/>
              </a:lnSpc>
              <a:spcAft>
                <a:spcPts val="800"/>
              </a:spcAft>
              <a:buSzPct val="100000"/>
              <a:buChar char="•"/>
            </a:pPr>
            <a:r>
              <a:rPr lang="en-US" sz="1300" dirty="0">
                <a:solidFill>
                  <a:srgbClr val="2C3E50"/>
                </a:solidFill>
                <a:latin typeface="Calibri" pitchFamily="34" charset="0"/>
                <a:ea typeface="Calibri" pitchFamily="34" charset="-122"/>
                <a:cs typeface="Calibri" pitchFamily="34" charset="-120"/>
              </a:rPr>
              <a:t>An accessibility layer for non-specialist planners</a:t>
            </a:r>
            <a:endParaRPr lang="en-US" sz="1300" dirty="0"/>
          </a:p>
        </p:txBody>
      </p:sp>
      <p:sp>
        <p:nvSpPr>
          <p:cNvPr id="9" name="Shape 7"/>
          <p:cNvSpPr/>
          <p:nvPr/>
        </p:nvSpPr>
        <p:spPr>
          <a:xfrm>
            <a:off x="4663440" y="3886200"/>
            <a:ext cx="4023360" cy="640080"/>
          </a:xfrm>
          <a:prstGeom prst="rect">
            <a:avLst/>
          </a:prstGeom>
          <a:solidFill>
            <a:srgbClr val="FBE9E9"/>
          </a:solidFill>
          <a:ln/>
        </p:spPr>
      </p:sp>
      <p:sp>
        <p:nvSpPr>
          <p:cNvPr id="10" name="Text 8"/>
          <p:cNvSpPr/>
          <p:nvPr/>
        </p:nvSpPr>
        <p:spPr>
          <a:xfrm>
            <a:off x="4754880" y="3886200"/>
            <a:ext cx="3840480" cy="640080"/>
          </a:xfrm>
          <a:prstGeom prst="rect">
            <a:avLst/>
          </a:prstGeom>
          <a:noFill/>
          <a:ln/>
        </p:spPr>
        <p:txBody>
          <a:bodyPr wrap="square" rtlCol="0" anchor="ctr"/>
          <a:lstStyle/>
          <a:p>
            <a:pPr indent="0" marL="0">
              <a:buNone/>
            </a:pPr>
            <a:r>
              <a:rPr lang="en-US" sz="1150" i="1" dirty="0">
                <a:solidFill>
                  <a:srgbClr val="B00000"/>
                </a:solidFill>
                <a:latin typeface="Calibri" pitchFamily="34" charset="0"/>
                <a:ea typeface="Calibri" pitchFamily="34" charset="-122"/>
                <a:cs typeface="Calibri" pitchFamily="34" charset="-120"/>
              </a:rPr>
              <a:t>Confirm live vs planned status of GenAI features before submission.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7680960" y="274320"/>
            <a:ext cx="1371600" cy="228600"/>
          </a:xfrm>
          <a:prstGeom prst="rect">
            <a:avLst/>
          </a:prstGeom>
          <a:noFill/>
          <a:ln/>
        </p:spPr>
        <p:txBody>
          <a:bodyPr wrap="square" rtlCol="0" anchor="ctr"/>
          <a:lstStyle/>
          <a:p>
            <a:pPr algn="r" indent="0" marL="0">
              <a:buNone/>
            </a:pPr>
            <a:r>
              <a:rPr lang="en-US" sz="1300" b="1" spc="200" kern="0" dirty="0">
                <a:solidFill>
                  <a:srgbClr val="0D98BA"/>
                </a:solidFill>
                <a:latin typeface="Calibri" pitchFamily="34" charset="0"/>
                <a:ea typeface="Calibri" pitchFamily="34" charset="-122"/>
                <a:cs typeface="Calibri" pitchFamily="34" charset="-120"/>
              </a:rPr>
              <a:t>SPROXIL</a:t>
            </a:r>
            <a:endParaRPr lang="en-US" sz="1300" dirty="0"/>
          </a:p>
        </p:txBody>
      </p:sp>
      <p:sp>
        <p:nvSpPr>
          <p:cNvPr id="3" name="Text 1"/>
          <p:cNvSpPr/>
          <p:nvPr/>
        </p:nvSpPr>
        <p:spPr>
          <a:xfrm>
            <a:off x="457200" y="320040"/>
            <a:ext cx="7132320" cy="548640"/>
          </a:xfrm>
          <a:prstGeom prst="rect">
            <a:avLst/>
          </a:prstGeom>
          <a:noFill/>
          <a:ln/>
        </p:spPr>
        <p:txBody>
          <a:bodyPr wrap="square" rtlCol="0" anchor="ctr"/>
          <a:lstStyle/>
          <a:p>
            <a:pPr indent="0" marL="0">
              <a:buNone/>
            </a:pPr>
            <a:r>
              <a:rPr lang="en-US" sz="2800" b="1" dirty="0">
                <a:solidFill>
                  <a:srgbClr val="1E3A5F"/>
                </a:solidFill>
                <a:latin typeface="Calibri" pitchFamily="34" charset="0"/>
                <a:ea typeface="Calibri" pitchFamily="34" charset="-122"/>
                <a:cs typeface="Calibri" pitchFamily="34" charset="-120"/>
              </a:rPr>
              <a:t>Monitoring, Evaluation and Learning</a:t>
            </a:r>
            <a:endParaRPr lang="en-US" sz="2800" dirty="0"/>
          </a:p>
        </p:txBody>
      </p:sp>
      <p:sp>
        <p:nvSpPr>
          <p:cNvPr id="4" name="Shape 2"/>
          <p:cNvSpPr/>
          <p:nvPr/>
        </p:nvSpPr>
        <p:spPr>
          <a:xfrm>
            <a:off x="457200" y="914400"/>
            <a:ext cx="8229600" cy="36576"/>
          </a:xfrm>
          <a:prstGeom prst="rect">
            <a:avLst/>
          </a:prstGeom>
          <a:solidFill>
            <a:srgbClr val="0D98BA"/>
          </a:solidFill>
          <a:ln/>
        </p:spPr>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300" i="1" dirty="0">
                <a:solidFill>
                  <a:srgbClr val="0D6E8C"/>
                </a:solidFill>
                <a:latin typeface="Calibri" pitchFamily="34" charset="0"/>
                <a:ea typeface="Calibri" pitchFamily="34" charset="-122"/>
                <a:cs typeface="Calibri" pitchFamily="34" charset="-120"/>
              </a:rPr>
              <a:t>Indicators allow results to be measured, not asserted. Targets and actuals to be completed from records.</a:t>
            </a:r>
            <a:endParaRPr lang="en-US" sz="1300" dirty="0"/>
          </a:p>
        </p:txBody>
      </p:sp>
      <p:sp>
        <p:nvSpPr>
          <p:cNvPr id="6" name="Shape 4"/>
          <p:cNvSpPr/>
          <p:nvPr/>
        </p:nvSpPr>
        <p:spPr>
          <a:xfrm>
            <a:off x="457200" y="1463040"/>
            <a:ext cx="8229600" cy="502920"/>
          </a:xfrm>
          <a:prstGeom prst="rect">
            <a:avLst/>
          </a:prstGeom>
          <a:solidFill>
            <a:srgbClr val="0D6E8C"/>
          </a:solidFill>
          <a:ln/>
        </p:spPr>
      </p:sp>
      <p:sp>
        <p:nvSpPr>
          <p:cNvPr id="7" name="Text 5"/>
          <p:cNvSpPr/>
          <p:nvPr/>
        </p:nvSpPr>
        <p:spPr>
          <a:xfrm>
            <a:off x="530352" y="1463040"/>
            <a:ext cx="3182112" cy="5029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Indicator</a:t>
            </a:r>
            <a:endParaRPr lang="en-US" sz="1150" dirty="0"/>
          </a:p>
        </p:txBody>
      </p:sp>
      <p:sp>
        <p:nvSpPr>
          <p:cNvPr id="8" name="Text 6"/>
          <p:cNvSpPr/>
          <p:nvPr/>
        </p:nvSpPr>
        <p:spPr>
          <a:xfrm>
            <a:off x="3822192" y="1463040"/>
            <a:ext cx="1536192" cy="5029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Baseline</a:t>
            </a:r>
            <a:endParaRPr lang="en-US" sz="1150" dirty="0"/>
          </a:p>
        </p:txBody>
      </p:sp>
      <p:sp>
        <p:nvSpPr>
          <p:cNvPr id="9" name="Text 7"/>
          <p:cNvSpPr/>
          <p:nvPr/>
        </p:nvSpPr>
        <p:spPr>
          <a:xfrm>
            <a:off x="5468112" y="1463040"/>
            <a:ext cx="1536192" cy="5029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Target</a:t>
            </a:r>
            <a:endParaRPr lang="en-US" sz="1150" dirty="0"/>
          </a:p>
        </p:txBody>
      </p:sp>
      <p:sp>
        <p:nvSpPr>
          <p:cNvPr id="10" name="Text 8"/>
          <p:cNvSpPr/>
          <p:nvPr/>
        </p:nvSpPr>
        <p:spPr>
          <a:xfrm>
            <a:off x="7114032" y="1463040"/>
            <a:ext cx="1536192" cy="5029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Actual</a:t>
            </a:r>
            <a:endParaRPr lang="en-US" sz="1150" dirty="0"/>
          </a:p>
        </p:txBody>
      </p:sp>
      <p:sp>
        <p:nvSpPr>
          <p:cNvPr id="11" name="Shape 9"/>
          <p:cNvSpPr/>
          <p:nvPr/>
        </p:nvSpPr>
        <p:spPr>
          <a:xfrm>
            <a:off x="457200" y="1984248"/>
            <a:ext cx="8229600" cy="502920"/>
          </a:xfrm>
          <a:prstGeom prst="rect">
            <a:avLst/>
          </a:prstGeom>
          <a:solidFill>
            <a:srgbClr val="E9F0F4"/>
          </a:solidFill>
          <a:ln/>
        </p:spPr>
      </p:sp>
      <p:sp>
        <p:nvSpPr>
          <p:cNvPr id="12" name="Text 10"/>
          <p:cNvSpPr/>
          <p:nvPr/>
        </p:nvSpPr>
        <p:spPr>
          <a:xfrm>
            <a:off x="530352" y="1984248"/>
            <a:ext cx="318211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Locations classified</a:t>
            </a:r>
            <a:endParaRPr lang="en-US" sz="1150" dirty="0"/>
          </a:p>
        </p:txBody>
      </p:sp>
      <p:sp>
        <p:nvSpPr>
          <p:cNvPr id="13" name="Text 11"/>
          <p:cNvSpPr/>
          <p:nvPr/>
        </p:nvSpPr>
        <p:spPr>
          <a:xfrm>
            <a:off x="3822192" y="1984248"/>
            <a:ext cx="15361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0</a:t>
            </a:r>
            <a:endParaRPr lang="en-US" sz="1150" dirty="0"/>
          </a:p>
        </p:txBody>
      </p:sp>
      <p:sp>
        <p:nvSpPr>
          <p:cNvPr id="14" name="Text 12"/>
          <p:cNvSpPr/>
          <p:nvPr/>
        </p:nvSpPr>
        <p:spPr>
          <a:xfrm>
            <a:off x="5468112" y="1984248"/>
            <a:ext cx="15361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[target]</a:t>
            </a:r>
            <a:endParaRPr lang="en-US" sz="1150" dirty="0"/>
          </a:p>
        </p:txBody>
      </p:sp>
      <p:sp>
        <p:nvSpPr>
          <p:cNvPr id="15" name="Text 13"/>
          <p:cNvSpPr/>
          <p:nvPr/>
        </p:nvSpPr>
        <p:spPr>
          <a:xfrm>
            <a:off x="7114032" y="1984248"/>
            <a:ext cx="15361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[insert]</a:t>
            </a:r>
            <a:endParaRPr lang="en-US" sz="1150" dirty="0"/>
          </a:p>
        </p:txBody>
      </p:sp>
      <p:sp>
        <p:nvSpPr>
          <p:cNvPr id="16" name="Shape 14"/>
          <p:cNvSpPr/>
          <p:nvPr/>
        </p:nvSpPr>
        <p:spPr>
          <a:xfrm>
            <a:off x="457200" y="2505456"/>
            <a:ext cx="8229600" cy="502920"/>
          </a:xfrm>
          <a:prstGeom prst="rect">
            <a:avLst/>
          </a:prstGeom>
          <a:solidFill>
            <a:srgbClr val="FFFFFF"/>
          </a:solidFill>
          <a:ln/>
        </p:spPr>
      </p:sp>
      <p:sp>
        <p:nvSpPr>
          <p:cNvPr id="17" name="Text 15"/>
          <p:cNvSpPr/>
          <p:nvPr/>
        </p:nvSpPr>
        <p:spPr>
          <a:xfrm>
            <a:off x="530352" y="2505456"/>
            <a:ext cx="318211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Survey responses stratified</a:t>
            </a:r>
            <a:endParaRPr lang="en-US" sz="1150" dirty="0"/>
          </a:p>
        </p:txBody>
      </p:sp>
      <p:sp>
        <p:nvSpPr>
          <p:cNvPr id="18" name="Text 16"/>
          <p:cNvSpPr/>
          <p:nvPr/>
        </p:nvSpPr>
        <p:spPr>
          <a:xfrm>
            <a:off x="3822192" y="2505456"/>
            <a:ext cx="15361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0</a:t>
            </a:r>
            <a:endParaRPr lang="en-US" sz="1150" dirty="0"/>
          </a:p>
        </p:txBody>
      </p:sp>
      <p:sp>
        <p:nvSpPr>
          <p:cNvPr id="19" name="Text 17"/>
          <p:cNvSpPr/>
          <p:nvPr/>
        </p:nvSpPr>
        <p:spPr>
          <a:xfrm>
            <a:off x="5468112" y="2505456"/>
            <a:ext cx="15361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~80,000</a:t>
            </a:r>
            <a:endParaRPr lang="en-US" sz="1150" dirty="0"/>
          </a:p>
        </p:txBody>
      </p:sp>
      <p:sp>
        <p:nvSpPr>
          <p:cNvPr id="20" name="Text 18"/>
          <p:cNvSpPr/>
          <p:nvPr/>
        </p:nvSpPr>
        <p:spPr>
          <a:xfrm>
            <a:off x="7114032" y="2505456"/>
            <a:ext cx="15361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[insert]</a:t>
            </a:r>
            <a:endParaRPr lang="en-US" sz="1150" dirty="0"/>
          </a:p>
        </p:txBody>
      </p:sp>
      <p:sp>
        <p:nvSpPr>
          <p:cNvPr id="21" name="Shape 19"/>
          <p:cNvSpPr/>
          <p:nvPr/>
        </p:nvSpPr>
        <p:spPr>
          <a:xfrm>
            <a:off x="457200" y="3026664"/>
            <a:ext cx="8229600" cy="502920"/>
          </a:xfrm>
          <a:prstGeom prst="rect">
            <a:avLst/>
          </a:prstGeom>
          <a:solidFill>
            <a:srgbClr val="E9F0F4"/>
          </a:solidFill>
          <a:ln/>
        </p:spPr>
      </p:sp>
      <p:sp>
        <p:nvSpPr>
          <p:cNvPr id="22" name="Text 20"/>
          <p:cNvSpPr/>
          <p:nvPr/>
        </p:nvSpPr>
        <p:spPr>
          <a:xfrm>
            <a:off x="530352" y="3026664"/>
            <a:ext cx="318211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Classification accuracy</a:t>
            </a:r>
            <a:endParaRPr lang="en-US" sz="1150" dirty="0"/>
          </a:p>
        </p:txBody>
      </p:sp>
      <p:sp>
        <p:nvSpPr>
          <p:cNvPr id="23" name="Text 21"/>
          <p:cNvSpPr/>
          <p:nvPr/>
        </p:nvSpPr>
        <p:spPr>
          <a:xfrm>
            <a:off x="3822192" y="3026664"/>
            <a:ext cx="15361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n/a</a:t>
            </a:r>
            <a:endParaRPr lang="en-US" sz="1150" dirty="0"/>
          </a:p>
        </p:txBody>
      </p:sp>
      <p:sp>
        <p:nvSpPr>
          <p:cNvPr id="24" name="Text 22"/>
          <p:cNvSpPr/>
          <p:nvPr/>
        </p:nvSpPr>
        <p:spPr>
          <a:xfrm>
            <a:off x="5468112" y="3026664"/>
            <a:ext cx="15361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&gt;90%</a:t>
            </a:r>
            <a:endParaRPr lang="en-US" sz="1150" dirty="0"/>
          </a:p>
        </p:txBody>
      </p:sp>
      <p:sp>
        <p:nvSpPr>
          <p:cNvPr id="25" name="Text 23"/>
          <p:cNvSpPr/>
          <p:nvPr/>
        </p:nvSpPr>
        <p:spPr>
          <a:xfrm>
            <a:off x="7114032" y="3026664"/>
            <a:ext cx="15361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[insert]</a:t>
            </a:r>
            <a:endParaRPr lang="en-US" sz="1150" dirty="0"/>
          </a:p>
        </p:txBody>
      </p:sp>
      <p:sp>
        <p:nvSpPr>
          <p:cNvPr id="26" name="Shape 24"/>
          <p:cNvSpPr/>
          <p:nvPr/>
        </p:nvSpPr>
        <p:spPr>
          <a:xfrm>
            <a:off x="457200" y="3547872"/>
            <a:ext cx="8229600" cy="502920"/>
          </a:xfrm>
          <a:prstGeom prst="rect">
            <a:avLst/>
          </a:prstGeom>
          <a:solidFill>
            <a:srgbClr val="FFFFFF"/>
          </a:solidFill>
          <a:ln/>
        </p:spPr>
      </p:sp>
      <p:sp>
        <p:nvSpPr>
          <p:cNvPr id="27" name="Text 25"/>
          <p:cNvSpPr/>
          <p:nvPr/>
        </p:nvSpPr>
        <p:spPr>
          <a:xfrm>
            <a:off x="530352" y="3547872"/>
            <a:ext cx="318211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NMEP planners onboarded</a:t>
            </a:r>
            <a:endParaRPr lang="en-US" sz="1150" dirty="0"/>
          </a:p>
        </p:txBody>
      </p:sp>
      <p:sp>
        <p:nvSpPr>
          <p:cNvPr id="28" name="Text 26"/>
          <p:cNvSpPr/>
          <p:nvPr/>
        </p:nvSpPr>
        <p:spPr>
          <a:xfrm>
            <a:off x="3822192" y="3547872"/>
            <a:ext cx="15361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0</a:t>
            </a:r>
            <a:endParaRPr lang="en-US" sz="1150" dirty="0"/>
          </a:p>
        </p:txBody>
      </p:sp>
      <p:sp>
        <p:nvSpPr>
          <p:cNvPr id="29" name="Text 27"/>
          <p:cNvSpPr/>
          <p:nvPr/>
        </p:nvSpPr>
        <p:spPr>
          <a:xfrm>
            <a:off x="5468112" y="3547872"/>
            <a:ext cx="15361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[target]</a:t>
            </a:r>
            <a:endParaRPr lang="en-US" sz="1150" dirty="0"/>
          </a:p>
        </p:txBody>
      </p:sp>
      <p:sp>
        <p:nvSpPr>
          <p:cNvPr id="30" name="Text 28"/>
          <p:cNvSpPr/>
          <p:nvPr/>
        </p:nvSpPr>
        <p:spPr>
          <a:xfrm>
            <a:off x="7114032" y="3547872"/>
            <a:ext cx="15361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[insert]</a:t>
            </a:r>
            <a:endParaRPr lang="en-US" sz="1150" dirty="0"/>
          </a:p>
        </p:txBody>
      </p:sp>
      <p:sp>
        <p:nvSpPr>
          <p:cNvPr id="31" name="Shape 29"/>
          <p:cNvSpPr/>
          <p:nvPr/>
        </p:nvSpPr>
        <p:spPr>
          <a:xfrm>
            <a:off x="457200" y="4069080"/>
            <a:ext cx="8229600" cy="502920"/>
          </a:xfrm>
          <a:prstGeom prst="rect">
            <a:avLst/>
          </a:prstGeom>
          <a:solidFill>
            <a:srgbClr val="E9F0F4"/>
          </a:solidFill>
          <a:ln/>
        </p:spPr>
      </p:sp>
      <p:sp>
        <p:nvSpPr>
          <p:cNvPr id="32" name="Text 30"/>
          <p:cNvSpPr/>
          <p:nvPr/>
        </p:nvSpPr>
        <p:spPr>
          <a:xfrm>
            <a:off x="530352" y="4069080"/>
            <a:ext cx="318211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States or LGAs covered</a:t>
            </a:r>
            <a:endParaRPr lang="en-US" sz="1150" dirty="0"/>
          </a:p>
        </p:txBody>
      </p:sp>
      <p:sp>
        <p:nvSpPr>
          <p:cNvPr id="33" name="Text 31"/>
          <p:cNvSpPr/>
          <p:nvPr/>
        </p:nvSpPr>
        <p:spPr>
          <a:xfrm>
            <a:off x="3822192" y="4069080"/>
            <a:ext cx="15361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0</a:t>
            </a:r>
            <a:endParaRPr lang="en-US" sz="1150" dirty="0"/>
          </a:p>
        </p:txBody>
      </p:sp>
      <p:sp>
        <p:nvSpPr>
          <p:cNvPr id="34" name="Text 32"/>
          <p:cNvSpPr/>
          <p:nvPr/>
        </p:nvSpPr>
        <p:spPr>
          <a:xfrm>
            <a:off x="5468112" y="4069080"/>
            <a:ext cx="15361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[target]</a:t>
            </a:r>
            <a:endParaRPr lang="en-US" sz="1150" dirty="0"/>
          </a:p>
        </p:txBody>
      </p:sp>
      <p:sp>
        <p:nvSpPr>
          <p:cNvPr id="35" name="Text 33"/>
          <p:cNvSpPr/>
          <p:nvPr/>
        </p:nvSpPr>
        <p:spPr>
          <a:xfrm>
            <a:off x="7114032" y="4069080"/>
            <a:ext cx="1536192" cy="502920"/>
          </a:xfrm>
          <a:prstGeom prst="rect">
            <a:avLst/>
          </a:prstGeom>
          <a:noFill/>
          <a:ln/>
        </p:spPr>
        <p:txBody>
          <a:bodyPr wrap="square" rtlCol="0" anchor="ctr"/>
          <a:lstStyle/>
          <a:p>
            <a:pPr indent="0" marL="0">
              <a:buNone/>
            </a:pPr>
            <a:r>
              <a:rPr lang="en-US" sz="1150" dirty="0">
                <a:solidFill>
                  <a:srgbClr val="2C3E50"/>
                </a:solidFill>
                <a:latin typeface="Calibri" pitchFamily="34" charset="0"/>
                <a:ea typeface="Calibri" pitchFamily="34" charset="-122"/>
                <a:cs typeface="Calibri" pitchFamily="34" charset="-120"/>
              </a:rPr>
              <a:t>[insert]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7680960" y="274320"/>
            <a:ext cx="1371600" cy="228600"/>
          </a:xfrm>
          <a:prstGeom prst="rect">
            <a:avLst/>
          </a:prstGeom>
          <a:noFill/>
          <a:ln/>
        </p:spPr>
        <p:txBody>
          <a:bodyPr wrap="square" rtlCol="0" anchor="ctr"/>
          <a:lstStyle/>
          <a:p>
            <a:pPr algn="r" indent="0" marL="0">
              <a:buNone/>
            </a:pPr>
            <a:r>
              <a:rPr lang="en-US" sz="1300" b="1" spc="200" kern="0" dirty="0">
                <a:solidFill>
                  <a:srgbClr val="0D98BA"/>
                </a:solidFill>
                <a:latin typeface="Calibri" pitchFamily="34" charset="0"/>
                <a:ea typeface="Calibri" pitchFamily="34" charset="-122"/>
                <a:cs typeface="Calibri" pitchFamily="34" charset="-120"/>
              </a:rPr>
              <a:t>SPROXIL</a:t>
            </a:r>
            <a:endParaRPr lang="en-US" sz="1300" dirty="0"/>
          </a:p>
        </p:txBody>
      </p:sp>
      <p:sp>
        <p:nvSpPr>
          <p:cNvPr id="3" name="Text 1"/>
          <p:cNvSpPr/>
          <p:nvPr/>
        </p:nvSpPr>
        <p:spPr>
          <a:xfrm>
            <a:off x="457200" y="320040"/>
            <a:ext cx="7132320" cy="548640"/>
          </a:xfrm>
          <a:prstGeom prst="rect">
            <a:avLst/>
          </a:prstGeom>
          <a:noFill/>
          <a:ln/>
        </p:spPr>
        <p:txBody>
          <a:bodyPr wrap="square" rtlCol="0" anchor="ctr"/>
          <a:lstStyle/>
          <a:p>
            <a:pPr indent="0" marL="0">
              <a:buNone/>
            </a:pPr>
            <a:r>
              <a:rPr lang="en-US" sz="2800" b="1" dirty="0">
                <a:solidFill>
                  <a:srgbClr val="1E3A5F"/>
                </a:solidFill>
                <a:latin typeface="Calibri" pitchFamily="34" charset="0"/>
                <a:ea typeface="Calibri" pitchFamily="34" charset="-122"/>
                <a:cs typeface="Calibri" pitchFamily="34" charset="-120"/>
              </a:rPr>
              <a:t>Outcomes and Applications</a:t>
            </a:r>
            <a:endParaRPr lang="en-US" sz="2800" dirty="0"/>
          </a:p>
        </p:txBody>
      </p:sp>
      <p:sp>
        <p:nvSpPr>
          <p:cNvPr id="4" name="Shape 2"/>
          <p:cNvSpPr/>
          <p:nvPr/>
        </p:nvSpPr>
        <p:spPr>
          <a:xfrm>
            <a:off x="457200" y="914400"/>
            <a:ext cx="8229600" cy="36576"/>
          </a:xfrm>
          <a:prstGeom prst="rect">
            <a:avLst/>
          </a:prstGeom>
          <a:solidFill>
            <a:srgbClr val="0D98BA"/>
          </a:solidFill>
          <a:ln/>
        </p:spPr>
      </p:sp>
      <p:sp>
        <p:nvSpPr>
          <p:cNvPr id="5" name="Text 3"/>
          <p:cNvSpPr/>
          <p:nvPr/>
        </p:nvSpPr>
        <p:spPr>
          <a:xfrm>
            <a:off x="457200" y="1143000"/>
            <a:ext cx="3931920" cy="274320"/>
          </a:xfrm>
          <a:prstGeom prst="rect">
            <a:avLst/>
          </a:prstGeom>
          <a:noFill/>
          <a:ln/>
        </p:spPr>
        <p:txBody>
          <a:bodyPr wrap="square" rtlCol="0" anchor="ctr"/>
          <a:lstStyle/>
          <a:p>
            <a:pPr indent="0" marL="0">
              <a:buNone/>
            </a:pPr>
            <a:r>
              <a:rPr lang="en-US" sz="1800" b="1" dirty="0">
                <a:solidFill>
                  <a:srgbClr val="0D6E8C"/>
                </a:solidFill>
                <a:latin typeface="Calibri" pitchFamily="34" charset="0"/>
                <a:ea typeface="Calibri" pitchFamily="34" charset="-122"/>
                <a:cs typeface="Calibri" pitchFamily="34" charset="-120"/>
              </a:rPr>
              <a:t>Delivered</a:t>
            </a:r>
            <a:endParaRPr lang="en-US" sz="1800" dirty="0"/>
          </a:p>
        </p:txBody>
      </p:sp>
      <p:sp>
        <p:nvSpPr>
          <p:cNvPr id="6" name="Text 4"/>
          <p:cNvSpPr/>
          <p:nvPr/>
        </p:nvSpPr>
        <p:spPr>
          <a:xfrm>
            <a:off x="457200" y="1508760"/>
            <a:ext cx="4023360" cy="2743200"/>
          </a:xfrm>
          <a:prstGeom prst="rect">
            <a:avLst/>
          </a:prstGeom>
          <a:noFill/>
          <a:ln/>
        </p:spPr>
        <p:txBody>
          <a:bodyPr wrap="square" rtlCol="0" anchor="ctr"/>
          <a:lstStyle/>
          <a:p>
            <a:pPr marL="342900" indent="-342900">
              <a:lnSpc>
                <a:spcPts val="1800"/>
              </a:lnSpc>
              <a:spcAft>
                <a:spcPts val="800"/>
              </a:spcAft>
              <a:buSzPct val="100000"/>
              <a:buChar char="•"/>
            </a:pPr>
            <a:r>
              <a:rPr lang="en-US" sz="1300" dirty="0">
                <a:solidFill>
                  <a:srgbClr val="2C3E50"/>
                </a:solidFill>
                <a:latin typeface="Calibri" pitchFamily="34" charset="0"/>
                <a:ea typeface="Calibri" pitchFamily="34" charset="-122"/>
                <a:cs typeface="Calibri" pitchFamily="34" charset="-120"/>
              </a:rPr>
              <a:t>Working, public prototype classifying any Nigerian location</a:t>
            </a:r>
            <a:endParaRPr lang="en-US" sz="1300" dirty="0"/>
          </a:p>
          <a:p>
            <a:pPr marL="342900" indent="-342900">
              <a:lnSpc>
                <a:spcPts val="1800"/>
              </a:lnSpc>
              <a:spcAft>
                <a:spcPts val="800"/>
              </a:spcAft>
              <a:buSzPct val="100000"/>
              <a:buChar char="•"/>
            </a:pPr>
            <a:r>
              <a:rPr lang="en-US" sz="1300" dirty="0">
                <a:solidFill>
                  <a:srgbClr val="2C3E50"/>
                </a:solidFill>
                <a:latin typeface="Calibri" pitchFamily="34" charset="0"/>
                <a:ea typeface="Calibri" pitchFamily="34" charset="-122"/>
                <a:cs typeface="Calibri" pitchFamily="34" charset="-120"/>
              </a:rPr>
              <a:t>Engine applicable to ~80,000 survey responses</a:t>
            </a:r>
            <a:endParaRPr lang="en-US" sz="1300" dirty="0"/>
          </a:p>
          <a:p>
            <a:pPr marL="342900" indent="-342900">
              <a:lnSpc>
                <a:spcPts val="1800"/>
              </a:lnSpc>
              <a:spcAft>
                <a:spcPts val="800"/>
              </a:spcAft>
              <a:buSzPct val="100000"/>
              <a:buChar char="•"/>
            </a:pPr>
            <a:r>
              <a:rPr lang="en-US" sz="1300" dirty="0">
                <a:solidFill>
                  <a:srgbClr val="2C3E50"/>
                </a:solidFill>
                <a:latin typeface="Calibri" pitchFamily="34" charset="0"/>
                <a:ea typeface="Calibri" pitchFamily="34" charset="-122"/>
                <a:cs typeface="Calibri" pitchFamily="34" charset="-120"/>
              </a:rPr>
              <a:t>Capability embedded in national work via the NMEP MOU</a:t>
            </a:r>
            <a:endParaRPr lang="en-US" sz="1300" dirty="0"/>
          </a:p>
        </p:txBody>
      </p:sp>
      <p:sp>
        <p:nvSpPr>
          <p:cNvPr id="7" name="Text 5"/>
          <p:cNvSpPr/>
          <p:nvPr/>
        </p:nvSpPr>
        <p:spPr>
          <a:xfrm>
            <a:off x="4663440" y="1143000"/>
            <a:ext cx="3931920" cy="274320"/>
          </a:xfrm>
          <a:prstGeom prst="rect">
            <a:avLst/>
          </a:prstGeom>
          <a:noFill/>
          <a:ln/>
        </p:spPr>
        <p:txBody>
          <a:bodyPr wrap="square" rtlCol="0" anchor="ctr"/>
          <a:lstStyle/>
          <a:p>
            <a:pPr indent="0" marL="0">
              <a:buNone/>
            </a:pPr>
            <a:r>
              <a:rPr lang="en-US" sz="1800" b="1" dirty="0">
                <a:solidFill>
                  <a:srgbClr val="00A896"/>
                </a:solidFill>
                <a:latin typeface="Calibri" pitchFamily="34" charset="0"/>
                <a:ea typeface="Calibri" pitchFamily="34" charset="-122"/>
                <a:cs typeface="Calibri" pitchFamily="34" charset="-120"/>
              </a:rPr>
              <a:t>Applications</a:t>
            </a:r>
            <a:endParaRPr lang="en-US" sz="1800" dirty="0"/>
          </a:p>
        </p:txBody>
      </p:sp>
      <p:sp>
        <p:nvSpPr>
          <p:cNvPr id="8" name="Text 6"/>
          <p:cNvSpPr/>
          <p:nvPr/>
        </p:nvSpPr>
        <p:spPr>
          <a:xfrm>
            <a:off x="4663440" y="1508760"/>
            <a:ext cx="4023360" cy="2743200"/>
          </a:xfrm>
          <a:prstGeom prst="rect">
            <a:avLst/>
          </a:prstGeom>
          <a:noFill/>
          <a:ln/>
        </p:spPr>
        <p:txBody>
          <a:bodyPr wrap="square" rtlCol="0" anchor="ctr"/>
          <a:lstStyle/>
          <a:p>
            <a:pPr marL="342900" indent="-342900">
              <a:lnSpc>
                <a:spcPts val="1800"/>
              </a:lnSpc>
              <a:spcAft>
                <a:spcPts val="800"/>
              </a:spcAft>
              <a:buSzPct val="100000"/>
              <a:buChar char="•"/>
            </a:pPr>
            <a:r>
              <a:rPr lang="en-US" sz="1300" dirty="0">
                <a:solidFill>
                  <a:srgbClr val="2C3E50"/>
                </a:solidFill>
                <a:latin typeface="Calibri" pitchFamily="34" charset="0"/>
                <a:ea typeface="Calibri" pitchFamily="34" charset="-122"/>
                <a:cs typeface="Calibri" pitchFamily="34" charset="-120"/>
              </a:rPr>
              <a:t>Settlement stratification of ~80,000 survey responses</a:t>
            </a:r>
            <a:endParaRPr lang="en-US" sz="1300" dirty="0"/>
          </a:p>
          <a:p>
            <a:pPr marL="342900" indent="-342900">
              <a:lnSpc>
                <a:spcPts val="1800"/>
              </a:lnSpc>
              <a:spcAft>
                <a:spcPts val="800"/>
              </a:spcAft>
              <a:buSzPct val="100000"/>
              <a:buChar char="•"/>
            </a:pPr>
            <a:r>
              <a:rPr lang="en-US" sz="1300" dirty="0">
                <a:solidFill>
                  <a:srgbClr val="2C3E50"/>
                </a:solidFill>
                <a:latin typeface="Calibri" pitchFamily="34" charset="0"/>
                <a:ea typeface="Calibri" pitchFamily="34" charset="-122"/>
                <a:cs typeface="Calibri" pitchFamily="34" charset="-120"/>
              </a:rPr>
              <a:t>Mapping product traceability by settlement type</a:t>
            </a:r>
            <a:endParaRPr lang="en-US" sz="1300" dirty="0"/>
          </a:p>
          <a:p>
            <a:pPr marL="342900" indent="-342900">
              <a:lnSpc>
                <a:spcPts val="1800"/>
              </a:lnSpc>
              <a:spcAft>
                <a:spcPts val="800"/>
              </a:spcAft>
              <a:buSzPct val="100000"/>
              <a:buChar char="•"/>
            </a:pPr>
            <a:r>
              <a:rPr lang="en-US" sz="1300" dirty="0">
                <a:solidFill>
                  <a:srgbClr val="2C3E50"/>
                </a:solidFill>
                <a:latin typeface="Calibri" pitchFamily="34" charset="0"/>
                <a:ea typeface="Calibri" pitchFamily="34" charset="-122"/>
                <a:cs typeface="Calibri" pitchFamily="34" charset="-120"/>
              </a:rPr>
              <a:t>Analysing usage across urban and rural areas</a:t>
            </a:r>
            <a:endParaRPr lang="en-US" sz="1300" dirty="0"/>
          </a:p>
          <a:p>
            <a:pPr marL="342900" indent="-342900">
              <a:lnSpc>
                <a:spcPts val="1800"/>
              </a:lnSpc>
              <a:spcAft>
                <a:spcPts val="800"/>
              </a:spcAft>
              <a:buSzPct val="100000"/>
              <a:buChar char="•"/>
            </a:pPr>
            <a:r>
              <a:rPr lang="en-US" sz="1300" dirty="0">
                <a:solidFill>
                  <a:srgbClr val="2C3E50"/>
                </a:solidFill>
                <a:latin typeface="Calibri" pitchFamily="34" charset="0"/>
                <a:ea typeface="Calibri" pitchFamily="34" charset="-122"/>
                <a:cs typeface="Calibri" pitchFamily="34" charset="-120"/>
              </a:rPr>
              <a:t>Classifying PPMV provider locations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7680960" y="274320"/>
            <a:ext cx="1371600" cy="228600"/>
          </a:xfrm>
          <a:prstGeom prst="rect">
            <a:avLst/>
          </a:prstGeom>
          <a:noFill/>
          <a:ln/>
        </p:spPr>
        <p:txBody>
          <a:bodyPr wrap="square" rtlCol="0" anchor="ctr"/>
          <a:lstStyle/>
          <a:p>
            <a:pPr algn="r" indent="0" marL="0">
              <a:buNone/>
            </a:pPr>
            <a:r>
              <a:rPr lang="en-US" sz="1300" b="1" spc="200" kern="0" dirty="0">
                <a:solidFill>
                  <a:srgbClr val="0D98BA"/>
                </a:solidFill>
                <a:latin typeface="Calibri" pitchFamily="34" charset="0"/>
                <a:ea typeface="Calibri" pitchFamily="34" charset="-122"/>
                <a:cs typeface="Calibri" pitchFamily="34" charset="-120"/>
              </a:rPr>
              <a:t>SPROXIL</a:t>
            </a:r>
            <a:endParaRPr lang="en-US" sz="1300" dirty="0"/>
          </a:p>
        </p:txBody>
      </p:sp>
      <p:sp>
        <p:nvSpPr>
          <p:cNvPr id="3" name="Text 1"/>
          <p:cNvSpPr/>
          <p:nvPr/>
        </p:nvSpPr>
        <p:spPr>
          <a:xfrm>
            <a:off x="457200" y="320040"/>
            <a:ext cx="7132320" cy="548640"/>
          </a:xfrm>
          <a:prstGeom prst="rect">
            <a:avLst/>
          </a:prstGeom>
          <a:noFill/>
          <a:ln/>
        </p:spPr>
        <p:txBody>
          <a:bodyPr wrap="square" rtlCol="0" anchor="ctr"/>
          <a:lstStyle/>
          <a:p>
            <a:pPr indent="0" marL="0">
              <a:buNone/>
            </a:pPr>
            <a:r>
              <a:rPr lang="en-US" sz="2800" b="1" dirty="0">
                <a:solidFill>
                  <a:srgbClr val="1E3A5F"/>
                </a:solidFill>
                <a:latin typeface="Calibri" pitchFamily="34" charset="0"/>
                <a:ea typeface="Calibri" pitchFamily="34" charset="-122"/>
                <a:cs typeface="Calibri" pitchFamily="34" charset="-120"/>
              </a:rPr>
              <a:t>Framework and SDG Alignment</a:t>
            </a:r>
            <a:endParaRPr lang="en-US" sz="2800" dirty="0"/>
          </a:p>
        </p:txBody>
      </p:sp>
      <p:sp>
        <p:nvSpPr>
          <p:cNvPr id="4" name="Shape 2"/>
          <p:cNvSpPr/>
          <p:nvPr/>
        </p:nvSpPr>
        <p:spPr>
          <a:xfrm>
            <a:off x="457200" y="914400"/>
            <a:ext cx="8229600" cy="36576"/>
          </a:xfrm>
          <a:prstGeom prst="rect">
            <a:avLst/>
          </a:prstGeom>
          <a:solidFill>
            <a:srgbClr val="0D98BA"/>
          </a:solidFill>
          <a:ln/>
        </p:spPr>
      </p:sp>
      <p:sp>
        <p:nvSpPr>
          <p:cNvPr id="5" name="Shape 3"/>
          <p:cNvSpPr/>
          <p:nvPr/>
        </p:nvSpPr>
        <p:spPr>
          <a:xfrm>
            <a:off x="457200" y="1463040"/>
            <a:ext cx="2606040" cy="2651760"/>
          </a:xfrm>
          <a:prstGeom prst="rect">
            <a:avLst/>
          </a:prstGeom>
          <a:solidFill>
            <a:srgbClr val="FFFFFF"/>
          </a:solidFill>
          <a:ln/>
        </p:spPr>
      </p:sp>
      <p:sp>
        <p:nvSpPr>
          <p:cNvPr id="6" name="Shape 4"/>
          <p:cNvSpPr/>
          <p:nvPr/>
        </p:nvSpPr>
        <p:spPr>
          <a:xfrm>
            <a:off x="457200" y="1463040"/>
            <a:ext cx="2606040" cy="64008"/>
          </a:xfrm>
          <a:prstGeom prst="rect">
            <a:avLst/>
          </a:prstGeom>
          <a:solidFill>
            <a:srgbClr val="0D6E8C"/>
          </a:solidFill>
          <a:ln/>
        </p:spPr>
      </p:sp>
      <p:sp>
        <p:nvSpPr>
          <p:cNvPr id="7" name="Text 5"/>
          <p:cNvSpPr/>
          <p:nvPr/>
        </p:nvSpPr>
        <p:spPr>
          <a:xfrm>
            <a:off x="621792" y="1691640"/>
            <a:ext cx="2286000" cy="731520"/>
          </a:xfrm>
          <a:prstGeom prst="rect">
            <a:avLst/>
          </a:prstGeom>
          <a:noFill/>
          <a:ln/>
        </p:spPr>
        <p:txBody>
          <a:bodyPr wrap="square"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National Malaria Strategic Plan</a:t>
            </a:r>
            <a:endParaRPr lang="en-US" sz="1500" dirty="0"/>
          </a:p>
        </p:txBody>
      </p:sp>
      <p:sp>
        <p:nvSpPr>
          <p:cNvPr id="8" name="Text 6"/>
          <p:cNvSpPr/>
          <p:nvPr/>
        </p:nvSpPr>
        <p:spPr>
          <a:xfrm>
            <a:off x="621792" y="2468880"/>
            <a:ext cx="2286000" cy="1463040"/>
          </a:xfrm>
          <a:prstGeom prst="rect">
            <a:avLst/>
          </a:prstGeom>
          <a:noFill/>
          <a:ln/>
        </p:spPr>
        <p:txBody>
          <a:bodyPr wrap="square" rtlCol="0" anchor="ctr"/>
          <a:lstStyle/>
          <a:p>
            <a:pPr indent="0" marL="0">
              <a:lnSpc>
                <a:spcPts val="1600"/>
              </a:lnSpc>
              <a:buNone/>
            </a:pPr>
            <a:r>
              <a:rPr lang="en-US" sz="1200" dirty="0">
                <a:solidFill>
                  <a:srgbClr val="2C3E50"/>
                </a:solidFill>
                <a:latin typeface="Calibri" pitchFamily="34" charset="0"/>
                <a:ea typeface="Calibri" pitchFamily="34" charset="-122"/>
                <a:cs typeface="Calibri" pitchFamily="34" charset="-120"/>
              </a:rPr>
              <a:t>Supports sub-national tailoring of interventions through settlement-aware analysis.</a:t>
            </a:r>
            <a:endParaRPr lang="en-US" sz="1200" dirty="0"/>
          </a:p>
        </p:txBody>
      </p:sp>
      <p:sp>
        <p:nvSpPr>
          <p:cNvPr id="9" name="Shape 7"/>
          <p:cNvSpPr/>
          <p:nvPr/>
        </p:nvSpPr>
        <p:spPr>
          <a:xfrm>
            <a:off x="3246120" y="1463040"/>
            <a:ext cx="2606040" cy="2651760"/>
          </a:xfrm>
          <a:prstGeom prst="rect">
            <a:avLst/>
          </a:prstGeom>
          <a:solidFill>
            <a:srgbClr val="FFFFFF"/>
          </a:solidFill>
          <a:ln/>
        </p:spPr>
      </p:sp>
      <p:sp>
        <p:nvSpPr>
          <p:cNvPr id="10" name="Shape 8"/>
          <p:cNvSpPr/>
          <p:nvPr/>
        </p:nvSpPr>
        <p:spPr>
          <a:xfrm>
            <a:off x="3246120" y="1463040"/>
            <a:ext cx="2606040" cy="64008"/>
          </a:xfrm>
          <a:prstGeom prst="rect">
            <a:avLst/>
          </a:prstGeom>
          <a:solidFill>
            <a:srgbClr val="00A896"/>
          </a:solidFill>
          <a:ln/>
        </p:spPr>
      </p:sp>
      <p:sp>
        <p:nvSpPr>
          <p:cNvPr id="11" name="Text 9"/>
          <p:cNvSpPr/>
          <p:nvPr/>
        </p:nvSpPr>
        <p:spPr>
          <a:xfrm>
            <a:off x="3410712" y="1691640"/>
            <a:ext cx="2286000" cy="731520"/>
          </a:xfrm>
          <a:prstGeom prst="rect">
            <a:avLst/>
          </a:prstGeom>
          <a:noFill/>
          <a:ln/>
        </p:spPr>
        <p:txBody>
          <a:bodyPr wrap="square"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WHO Global Technical Strategy</a:t>
            </a:r>
            <a:endParaRPr lang="en-US" sz="1500" dirty="0"/>
          </a:p>
        </p:txBody>
      </p:sp>
      <p:sp>
        <p:nvSpPr>
          <p:cNvPr id="12" name="Text 10"/>
          <p:cNvSpPr/>
          <p:nvPr/>
        </p:nvSpPr>
        <p:spPr>
          <a:xfrm>
            <a:off x="3410712" y="2468880"/>
            <a:ext cx="2286000" cy="1463040"/>
          </a:xfrm>
          <a:prstGeom prst="rect">
            <a:avLst/>
          </a:prstGeom>
          <a:noFill/>
          <a:ln/>
        </p:spPr>
        <p:txBody>
          <a:bodyPr wrap="square" rtlCol="0" anchor="ctr"/>
          <a:lstStyle/>
          <a:p>
            <a:pPr indent="0" marL="0">
              <a:lnSpc>
                <a:spcPts val="1600"/>
              </a:lnSpc>
              <a:buNone/>
            </a:pPr>
            <a:r>
              <a:rPr lang="en-US" sz="1200" dirty="0">
                <a:solidFill>
                  <a:srgbClr val="2C3E50"/>
                </a:solidFill>
                <a:latin typeface="Calibri" pitchFamily="34" charset="0"/>
                <a:ea typeface="Calibri" pitchFamily="34" charset="-122"/>
                <a:cs typeface="Calibri" pitchFamily="34" charset="-120"/>
              </a:rPr>
              <a:t>Supports the malaria strategy pillars on data use and stratification for impact.</a:t>
            </a:r>
            <a:endParaRPr lang="en-US" sz="1200" dirty="0"/>
          </a:p>
        </p:txBody>
      </p:sp>
      <p:sp>
        <p:nvSpPr>
          <p:cNvPr id="13" name="Shape 11"/>
          <p:cNvSpPr/>
          <p:nvPr/>
        </p:nvSpPr>
        <p:spPr>
          <a:xfrm>
            <a:off x="6035040" y="1463040"/>
            <a:ext cx="2606040" cy="2651760"/>
          </a:xfrm>
          <a:prstGeom prst="rect">
            <a:avLst/>
          </a:prstGeom>
          <a:solidFill>
            <a:srgbClr val="FFFFFF"/>
          </a:solidFill>
          <a:ln/>
        </p:spPr>
      </p:sp>
      <p:sp>
        <p:nvSpPr>
          <p:cNvPr id="14" name="Shape 12"/>
          <p:cNvSpPr/>
          <p:nvPr/>
        </p:nvSpPr>
        <p:spPr>
          <a:xfrm>
            <a:off x="6035040" y="1463040"/>
            <a:ext cx="2606040" cy="64008"/>
          </a:xfrm>
          <a:prstGeom prst="rect">
            <a:avLst/>
          </a:prstGeom>
          <a:solidFill>
            <a:srgbClr val="0D98BA"/>
          </a:solidFill>
          <a:ln/>
        </p:spPr>
      </p:sp>
      <p:sp>
        <p:nvSpPr>
          <p:cNvPr id="15" name="Text 13"/>
          <p:cNvSpPr/>
          <p:nvPr/>
        </p:nvSpPr>
        <p:spPr>
          <a:xfrm>
            <a:off x="6199632" y="1691640"/>
            <a:ext cx="2286000" cy="731520"/>
          </a:xfrm>
          <a:prstGeom prst="rect">
            <a:avLst/>
          </a:prstGeom>
          <a:noFill/>
          <a:ln/>
        </p:spPr>
        <p:txBody>
          <a:bodyPr wrap="square"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Sustainable Development Goals</a:t>
            </a:r>
            <a:endParaRPr lang="en-US" sz="1500" dirty="0"/>
          </a:p>
        </p:txBody>
      </p:sp>
      <p:sp>
        <p:nvSpPr>
          <p:cNvPr id="16" name="Text 14"/>
          <p:cNvSpPr/>
          <p:nvPr/>
        </p:nvSpPr>
        <p:spPr>
          <a:xfrm>
            <a:off x="6199632" y="2468880"/>
            <a:ext cx="2286000" cy="1463040"/>
          </a:xfrm>
          <a:prstGeom prst="rect">
            <a:avLst/>
          </a:prstGeom>
          <a:noFill/>
          <a:ln/>
        </p:spPr>
        <p:txBody>
          <a:bodyPr wrap="square" rtlCol="0" anchor="ctr"/>
          <a:lstStyle/>
          <a:p>
            <a:pPr indent="0" marL="0">
              <a:lnSpc>
                <a:spcPts val="1600"/>
              </a:lnSpc>
              <a:buNone/>
            </a:pPr>
            <a:r>
              <a:rPr lang="en-US" sz="1200" dirty="0">
                <a:solidFill>
                  <a:srgbClr val="2C3E50"/>
                </a:solidFill>
                <a:latin typeface="Calibri" pitchFamily="34" charset="0"/>
                <a:ea typeface="Calibri" pitchFamily="34" charset="-122"/>
                <a:cs typeface="Calibri" pitchFamily="34" charset="-120"/>
              </a:rPr>
              <a:t>Contributes to SDG 3 (health), SDG 9 (innovation), and SDG 10 (reduced inequalities).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7680960" y="274320"/>
            <a:ext cx="1371600" cy="228600"/>
          </a:xfrm>
          <a:prstGeom prst="rect">
            <a:avLst/>
          </a:prstGeom>
          <a:noFill/>
          <a:ln/>
        </p:spPr>
        <p:txBody>
          <a:bodyPr wrap="square" rtlCol="0" anchor="ctr"/>
          <a:lstStyle/>
          <a:p>
            <a:pPr algn="r" indent="0" marL="0">
              <a:buNone/>
            </a:pPr>
            <a:r>
              <a:rPr lang="en-US" sz="1300" b="1" spc="200" kern="0" dirty="0">
                <a:solidFill>
                  <a:srgbClr val="0D98BA"/>
                </a:solidFill>
                <a:latin typeface="Calibri" pitchFamily="34" charset="0"/>
                <a:ea typeface="Calibri" pitchFamily="34" charset="-122"/>
                <a:cs typeface="Calibri" pitchFamily="34" charset="-120"/>
              </a:rPr>
              <a:t>SPROXIL</a:t>
            </a:r>
            <a:endParaRPr lang="en-US" sz="1300" dirty="0"/>
          </a:p>
        </p:txBody>
      </p:sp>
      <p:sp>
        <p:nvSpPr>
          <p:cNvPr id="3" name="Text 1"/>
          <p:cNvSpPr/>
          <p:nvPr/>
        </p:nvSpPr>
        <p:spPr>
          <a:xfrm>
            <a:off x="457200" y="320040"/>
            <a:ext cx="7132320" cy="548640"/>
          </a:xfrm>
          <a:prstGeom prst="rect">
            <a:avLst/>
          </a:prstGeom>
          <a:noFill/>
          <a:ln/>
        </p:spPr>
        <p:txBody>
          <a:bodyPr wrap="square" rtlCol="0" anchor="ctr"/>
          <a:lstStyle/>
          <a:p>
            <a:pPr indent="0" marL="0">
              <a:buNone/>
            </a:pPr>
            <a:r>
              <a:rPr lang="en-US" sz="2800" b="1" dirty="0">
                <a:solidFill>
                  <a:srgbClr val="1E3A5F"/>
                </a:solidFill>
                <a:latin typeface="Calibri" pitchFamily="34" charset="0"/>
                <a:ea typeface="Calibri" pitchFamily="34" charset="-122"/>
                <a:cs typeface="Calibri" pitchFamily="34" charset="-120"/>
              </a:rPr>
              <a:t>Governance: Privacy, Inclusion and Risk</a:t>
            </a:r>
            <a:endParaRPr lang="en-US" sz="2800" dirty="0"/>
          </a:p>
        </p:txBody>
      </p:sp>
      <p:sp>
        <p:nvSpPr>
          <p:cNvPr id="4" name="Shape 2"/>
          <p:cNvSpPr/>
          <p:nvPr/>
        </p:nvSpPr>
        <p:spPr>
          <a:xfrm>
            <a:off x="457200" y="914400"/>
            <a:ext cx="8229600" cy="36576"/>
          </a:xfrm>
          <a:prstGeom prst="rect">
            <a:avLst/>
          </a:prstGeom>
          <a:solidFill>
            <a:srgbClr val="0D98BA"/>
          </a:solidFill>
          <a:ln/>
        </p:spPr>
      </p:sp>
      <p:sp>
        <p:nvSpPr>
          <p:cNvPr id="5" name="Text 3"/>
          <p:cNvSpPr/>
          <p:nvPr/>
        </p:nvSpPr>
        <p:spPr>
          <a:xfrm>
            <a:off x="457200" y="1097280"/>
            <a:ext cx="8229600" cy="274320"/>
          </a:xfrm>
          <a:prstGeom prst="rect">
            <a:avLst/>
          </a:prstGeom>
          <a:noFill/>
          <a:ln/>
        </p:spPr>
        <p:txBody>
          <a:bodyPr wrap="square" rtlCol="0" anchor="ctr"/>
          <a:lstStyle/>
          <a:p>
            <a:pPr indent="0" marL="0">
              <a:buNone/>
            </a:pPr>
            <a:r>
              <a:rPr lang="en-US" sz="1600" b="1" dirty="0">
                <a:solidFill>
                  <a:srgbClr val="0D6E8C"/>
                </a:solidFill>
                <a:latin typeface="Calibri" pitchFamily="34" charset="0"/>
                <a:ea typeface="Calibri" pitchFamily="34" charset="-122"/>
                <a:cs typeface="Calibri" pitchFamily="34" charset="-120"/>
              </a:rPr>
              <a:t>Data Privacy and Ethics</a:t>
            </a:r>
            <a:endParaRPr lang="en-US" sz="1600" dirty="0"/>
          </a:p>
        </p:txBody>
      </p:sp>
      <p:sp>
        <p:nvSpPr>
          <p:cNvPr id="6" name="Text 4"/>
          <p:cNvSpPr/>
          <p:nvPr/>
        </p:nvSpPr>
        <p:spPr>
          <a:xfrm>
            <a:off x="457200" y="1417320"/>
            <a:ext cx="8229600" cy="914400"/>
          </a:xfrm>
          <a:prstGeom prst="rect">
            <a:avLst/>
          </a:prstGeom>
          <a:noFill/>
          <a:ln/>
        </p:spPr>
        <p:txBody>
          <a:bodyPr wrap="square" rtlCol="0" anchor="ctr"/>
          <a:lstStyle/>
          <a:p>
            <a:pPr marL="342900" indent="-3429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Geolocated survey data is processed under the Nigeria Data Protection Act 2023</a:t>
            </a:r>
            <a:endParaRPr lang="en-US" sz="1250" dirty="0"/>
          </a:p>
          <a:p>
            <a:pPr marL="342900" indent="-3429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Lawful basis and consent, data minimisation, access controls, de-identification</a:t>
            </a:r>
            <a:endParaRPr lang="en-US" sz="1250" dirty="0"/>
          </a:p>
        </p:txBody>
      </p:sp>
      <p:sp>
        <p:nvSpPr>
          <p:cNvPr id="7" name="Text 5"/>
          <p:cNvSpPr/>
          <p:nvPr/>
        </p:nvSpPr>
        <p:spPr>
          <a:xfrm>
            <a:off x="457200" y="2377440"/>
            <a:ext cx="8229600" cy="274320"/>
          </a:xfrm>
          <a:prstGeom prst="rect">
            <a:avLst/>
          </a:prstGeom>
          <a:noFill/>
          <a:ln/>
        </p:spPr>
        <p:txBody>
          <a:bodyPr wrap="square" rtlCol="0" anchor="ctr"/>
          <a:lstStyle/>
          <a:p>
            <a:pPr indent="0" marL="0">
              <a:buNone/>
            </a:pPr>
            <a:r>
              <a:rPr lang="en-US" sz="1600" b="1" dirty="0">
                <a:solidFill>
                  <a:srgbClr val="00A896"/>
                </a:solidFill>
                <a:latin typeface="Calibri" pitchFamily="34" charset="0"/>
                <a:ea typeface="Calibri" pitchFamily="34" charset="-122"/>
                <a:cs typeface="Calibri" pitchFamily="34" charset="-120"/>
              </a:rPr>
              <a:t>Gender Equity and Social Inclusion</a:t>
            </a:r>
            <a:endParaRPr lang="en-US" sz="1600" dirty="0"/>
          </a:p>
        </p:txBody>
      </p:sp>
      <p:sp>
        <p:nvSpPr>
          <p:cNvPr id="8" name="Text 6"/>
          <p:cNvSpPr/>
          <p:nvPr/>
        </p:nvSpPr>
        <p:spPr>
          <a:xfrm>
            <a:off x="457200" y="2697480"/>
            <a:ext cx="8229600" cy="914400"/>
          </a:xfrm>
          <a:prstGeom prst="rect">
            <a:avLst/>
          </a:prstGeom>
          <a:noFill/>
          <a:ln/>
        </p:spPr>
        <p:txBody>
          <a:bodyPr wrap="square" rtlCol="0" anchor="ctr"/>
          <a:lstStyle/>
          <a:p>
            <a:pPr marL="342900" indent="-3429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Settlement classification surfaces rural and underserved populations for targeting</a:t>
            </a:r>
            <a:endParaRPr lang="en-US" sz="1250" dirty="0"/>
          </a:p>
          <a:p>
            <a:pPr marL="342900" indent="-3429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Sex-disaggregated survey data can reveal access differences by settlement type</a:t>
            </a:r>
            <a:endParaRPr lang="en-US" sz="1250" dirty="0"/>
          </a:p>
        </p:txBody>
      </p:sp>
      <p:sp>
        <p:nvSpPr>
          <p:cNvPr id="9" name="Text 7"/>
          <p:cNvSpPr/>
          <p:nvPr/>
        </p:nvSpPr>
        <p:spPr>
          <a:xfrm>
            <a:off x="457200" y="3657600"/>
            <a:ext cx="8229600" cy="274320"/>
          </a:xfrm>
          <a:prstGeom prst="rect">
            <a:avLst/>
          </a:prstGeom>
          <a:noFill/>
          <a:ln/>
        </p:spPr>
        <p:txBody>
          <a:bodyPr wrap="square" rtlCol="0" anchor="ctr"/>
          <a:lstStyle/>
          <a:p>
            <a:pPr indent="0" marL="0">
              <a:buNone/>
            </a:pPr>
            <a:r>
              <a:rPr lang="en-US" sz="1600" b="1" dirty="0">
                <a:solidFill>
                  <a:srgbClr val="0D98BA"/>
                </a:solidFill>
                <a:latin typeface="Calibri" pitchFamily="34" charset="0"/>
                <a:ea typeface="Calibri" pitchFamily="34" charset="-122"/>
                <a:cs typeface="Calibri" pitchFamily="34" charset="-120"/>
              </a:rPr>
              <a:t>Key Risks Managed</a:t>
            </a:r>
            <a:endParaRPr lang="en-US" sz="1600" dirty="0"/>
          </a:p>
        </p:txBody>
      </p:sp>
      <p:sp>
        <p:nvSpPr>
          <p:cNvPr id="10" name="Text 8"/>
          <p:cNvSpPr/>
          <p:nvPr/>
        </p:nvSpPr>
        <p:spPr>
          <a:xfrm>
            <a:off x="457200" y="3977640"/>
            <a:ext cx="8229600" cy="914400"/>
          </a:xfrm>
          <a:prstGeom prst="rect">
            <a:avLst/>
          </a:prstGeom>
          <a:noFill/>
          <a:ln/>
        </p:spPr>
        <p:txBody>
          <a:bodyPr wrap="square" rtlCol="0" anchor="ctr"/>
          <a:lstStyle/>
          <a:p>
            <a:pPr marL="342900" indent="-3429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Privacy breach (high impact): NDPA compliance, de-identification, access controls</a:t>
            </a:r>
            <a:endParaRPr lang="en-US" sz="1250" dirty="0"/>
          </a:p>
          <a:p>
            <a:pPr marL="342900" indent="-3429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Credit exhaustion and adoption: cost monitoring, simple interface, NMEP embedding</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7680960" y="274320"/>
            <a:ext cx="1371600" cy="228600"/>
          </a:xfrm>
          <a:prstGeom prst="rect">
            <a:avLst/>
          </a:prstGeom>
          <a:noFill/>
          <a:ln/>
        </p:spPr>
        <p:txBody>
          <a:bodyPr wrap="square" rtlCol="0" anchor="ctr"/>
          <a:lstStyle/>
          <a:p>
            <a:pPr algn="r" indent="0" marL="0">
              <a:buNone/>
            </a:pPr>
            <a:r>
              <a:rPr lang="en-US" sz="1300" b="1" spc="200" kern="0" dirty="0">
                <a:solidFill>
                  <a:srgbClr val="0D98BA"/>
                </a:solidFill>
                <a:latin typeface="Calibri" pitchFamily="34" charset="0"/>
                <a:ea typeface="Calibri" pitchFamily="34" charset="-122"/>
                <a:cs typeface="Calibri" pitchFamily="34" charset="-120"/>
              </a:rPr>
              <a:t>SPROXIL</a:t>
            </a:r>
            <a:endParaRPr lang="en-US" sz="1300" dirty="0"/>
          </a:p>
        </p:txBody>
      </p:sp>
      <p:sp>
        <p:nvSpPr>
          <p:cNvPr id="3" name="Text 1"/>
          <p:cNvSpPr/>
          <p:nvPr/>
        </p:nvSpPr>
        <p:spPr>
          <a:xfrm>
            <a:off x="457200" y="320040"/>
            <a:ext cx="7132320" cy="548640"/>
          </a:xfrm>
          <a:prstGeom prst="rect">
            <a:avLst/>
          </a:prstGeom>
          <a:noFill/>
          <a:ln/>
        </p:spPr>
        <p:txBody>
          <a:bodyPr wrap="square" rtlCol="0" anchor="ctr"/>
          <a:lstStyle/>
          <a:p>
            <a:pPr indent="0" marL="0">
              <a:buNone/>
            </a:pPr>
            <a:r>
              <a:rPr lang="en-US" sz="2800" b="1" dirty="0">
                <a:solidFill>
                  <a:srgbClr val="1E3A5F"/>
                </a:solidFill>
                <a:latin typeface="Calibri" pitchFamily="34" charset="0"/>
                <a:ea typeface="Calibri" pitchFamily="34" charset="-122"/>
                <a:cs typeface="Calibri" pitchFamily="34" charset="-120"/>
              </a:rPr>
              <a:t>Sustainability, Scale-Up and Value for Money</a:t>
            </a:r>
            <a:endParaRPr lang="en-US" sz="2800" dirty="0"/>
          </a:p>
        </p:txBody>
      </p:sp>
      <p:sp>
        <p:nvSpPr>
          <p:cNvPr id="4" name="Shape 2"/>
          <p:cNvSpPr/>
          <p:nvPr/>
        </p:nvSpPr>
        <p:spPr>
          <a:xfrm>
            <a:off x="457200" y="914400"/>
            <a:ext cx="8229600" cy="36576"/>
          </a:xfrm>
          <a:prstGeom prst="rect">
            <a:avLst/>
          </a:prstGeom>
          <a:solidFill>
            <a:srgbClr val="0D98BA"/>
          </a:solidFill>
          <a:ln/>
        </p:spPr>
      </p:sp>
      <p:sp>
        <p:nvSpPr>
          <p:cNvPr id="5" name="Shape 3"/>
          <p:cNvSpPr/>
          <p:nvPr/>
        </p:nvSpPr>
        <p:spPr>
          <a:xfrm>
            <a:off x="457200" y="1371600"/>
            <a:ext cx="2606040" cy="2377440"/>
          </a:xfrm>
          <a:prstGeom prst="rect">
            <a:avLst/>
          </a:prstGeom>
          <a:solidFill>
            <a:srgbClr val="FFFFFF"/>
          </a:solidFill>
          <a:ln/>
        </p:spPr>
      </p:sp>
      <p:sp>
        <p:nvSpPr>
          <p:cNvPr id="6" name="Shape 4"/>
          <p:cNvSpPr/>
          <p:nvPr/>
        </p:nvSpPr>
        <p:spPr>
          <a:xfrm>
            <a:off x="457200" y="1371600"/>
            <a:ext cx="2606040" cy="64008"/>
          </a:xfrm>
          <a:prstGeom prst="rect">
            <a:avLst/>
          </a:prstGeom>
          <a:solidFill>
            <a:srgbClr val="0D6E8C"/>
          </a:solidFill>
          <a:ln/>
        </p:spPr>
      </p:sp>
      <p:sp>
        <p:nvSpPr>
          <p:cNvPr id="7" name="Text 5"/>
          <p:cNvSpPr/>
          <p:nvPr/>
        </p:nvSpPr>
        <p:spPr>
          <a:xfrm>
            <a:off x="621792" y="1572768"/>
            <a:ext cx="2286000" cy="36576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Institutional</a:t>
            </a:r>
            <a:endParaRPr lang="en-US" sz="1600" dirty="0"/>
          </a:p>
        </p:txBody>
      </p:sp>
      <p:sp>
        <p:nvSpPr>
          <p:cNvPr id="8" name="Text 6"/>
          <p:cNvSpPr/>
          <p:nvPr/>
        </p:nvSpPr>
        <p:spPr>
          <a:xfrm>
            <a:off x="621792" y="2057400"/>
            <a:ext cx="2286000" cy="1554480"/>
          </a:xfrm>
          <a:prstGeom prst="rect">
            <a:avLst/>
          </a:prstGeom>
          <a:noFill/>
          <a:ln/>
        </p:spPr>
        <p:txBody>
          <a:bodyPr wrap="square" rtlCol="0" anchor="ctr"/>
          <a:lstStyle/>
          <a:p>
            <a:pPr indent="0" marL="0">
              <a:lnSpc>
                <a:spcPts val="1600"/>
              </a:lnSpc>
              <a:buNone/>
            </a:pPr>
            <a:r>
              <a:rPr lang="en-US" sz="1200" dirty="0">
                <a:solidFill>
                  <a:srgbClr val="2C3E50"/>
                </a:solidFill>
                <a:latin typeface="Calibri" pitchFamily="34" charset="0"/>
                <a:ea typeface="Calibri" pitchFamily="34" charset="-122"/>
                <a:cs typeface="Calibri" pitchFamily="34" charset="-120"/>
              </a:rPr>
              <a:t>Embedded in NMEP sub-national tailoring and reporting, giving the tool a home beyond the grant.</a:t>
            </a:r>
            <a:endParaRPr lang="en-US" sz="1200" dirty="0"/>
          </a:p>
        </p:txBody>
      </p:sp>
      <p:sp>
        <p:nvSpPr>
          <p:cNvPr id="9" name="Shape 7"/>
          <p:cNvSpPr/>
          <p:nvPr/>
        </p:nvSpPr>
        <p:spPr>
          <a:xfrm>
            <a:off x="3246120" y="1371600"/>
            <a:ext cx="2606040" cy="2377440"/>
          </a:xfrm>
          <a:prstGeom prst="rect">
            <a:avLst/>
          </a:prstGeom>
          <a:solidFill>
            <a:srgbClr val="FFFFFF"/>
          </a:solidFill>
          <a:ln/>
        </p:spPr>
      </p:sp>
      <p:sp>
        <p:nvSpPr>
          <p:cNvPr id="10" name="Shape 8"/>
          <p:cNvSpPr/>
          <p:nvPr/>
        </p:nvSpPr>
        <p:spPr>
          <a:xfrm>
            <a:off x="3246120" y="1371600"/>
            <a:ext cx="2606040" cy="64008"/>
          </a:xfrm>
          <a:prstGeom prst="rect">
            <a:avLst/>
          </a:prstGeom>
          <a:solidFill>
            <a:srgbClr val="00A896"/>
          </a:solidFill>
          <a:ln/>
        </p:spPr>
      </p:sp>
      <p:sp>
        <p:nvSpPr>
          <p:cNvPr id="11" name="Text 9"/>
          <p:cNvSpPr/>
          <p:nvPr/>
        </p:nvSpPr>
        <p:spPr>
          <a:xfrm>
            <a:off x="3410712" y="1572768"/>
            <a:ext cx="2286000" cy="36576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Technical</a:t>
            </a:r>
            <a:endParaRPr lang="en-US" sz="1600" dirty="0"/>
          </a:p>
        </p:txBody>
      </p:sp>
      <p:sp>
        <p:nvSpPr>
          <p:cNvPr id="12" name="Text 10"/>
          <p:cNvSpPr/>
          <p:nvPr/>
        </p:nvSpPr>
        <p:spPr>
          <a:xfrm>
            <a:off x="3410712" y="2057400"/>
            <a:ext cx="2286000" cy="1554480"/>
          </a:xfrm>
          <a:prstGeom prst="rect">
            <a:avLst/>
          </a:prstGeom>
          <a:noFill/>
          <a:ln/>
        </p:spPr>
        <p:txBody>
          <a:bodyPr wrap="square" rtlCol="0" anchor="ctr"/>
          <a:lstStyle/>
          <a:p>
            <a:pPr indent="0" marL="0">
              <a:lnSpc>
                <a:spcPts val="1600"/>
              </a:lnSpc>
              <a:buNone/>
            </a:pPr>
            <a:r>
              <a:rPr lang="en-US" sz="1200" dirty="0">
                <a:solidFill>
                  <a:srgbClr val="2C3E50"/>
                </a:solidFill>
                <a:latin typeface="Calibri" pitchFamily="34" charset="0"/>
                <a:ea typeface="Calibri" pitchFamily="34" charset="-122"/>
                <a:cs typeface="Calibri" pitchFamily="34" charset="-120"/>
              </a:rPr>
              <a:t>Cloud-native design keeps running costs low and proportional to actual use.</a:t>
            </a:r>
            <a:endParaRPr lang="en-US" sz="1200" dirty="0"/>
          </a:p>
        </p:txBody>
      </p:sp>
      <p:sp>
        <p:nvSpPr>
          <p:cNvPr id="13" name="Shape 11"/>
          <p:cNvSpPr/>
          <p:nvPr/>
        </p:nvSpPr>
        <p:spPr>
          <a:xfrm>
            <a:off x="6035040" y="1371600"/>
            <a:ext cx="2606040" cy="2377440"/>
          </a:xfrm>
          <a:prstGeom prst="rect">
            <a:avLst/>
          </a:prstGeom>
          <a:solidFill>
            <a:srgbClr val="FFFFFF"/>
          </a:solidFill>
          <a:ln/>
        </p:spPr>
      </p:sp>
      <p:sp>
        <p:nvSpPr>
          <p:cNvPr id="14" name="Shape 12"/>
          <p:cNvSpPr/>
          <p:nvPr/>
        </p:nvSpPr>
        <p:spPr>
          <a:xfrm>
            <a:off x="6035040" y="1371600"/>
            <a:ext cx="2606040" cy="64008"/>
          </a:xfrm>
          <a:prstGeom prst="rect">
            <a:avLst/>
          </a:prstGeom>
          <a:solidFill>
            <a:srgbClr val="0D98BA"/>
          </a:solidFill>
          <a:ln/>
        </p:spPr>
      </p:sp>
      <p:sp>
        <p:nvSpPr>
          <p:cNvPr id="15" name="Text 13"/>
          <p:cNvSpPr/>
          <p:nvPr/>
        </p:nvSpPr>
        <p:spPr>
          <a:xfrm>
            <a:off x="6199632" y="1572768"/>
            <a:ext cx="2286000" cy="365760"/>
          </a:xfrm>
          <a:prstGeom prst="rect">
            <a:avLst/>
          </a:prstGeom>
          <a:noFill/>
          <a:ln/>
        </p:spPr>
        <p:txBody>
          <a:bodyPr wrap="square" rtlCol="0" anchor="ctr"/>
          <a:lstStyle/>
          <a:p>
            <a:pPr indent="0" marL="0">
              <a:buNone/>
            </a:pPr>
            <a:r>
              <a:rPr lang="en-US" sz="1600" b="1" dirty="0">
                <a:solidFill>
                  <a:srgbClr val="1E3A5F"/>
                </a:solidFill>
                <a:latin typeface="Calibri" pitchFamily="34" charset="0"/>
                <a:ea typeface="Calibri" pitchFamily="34" charset="-122"/>
                <a:cs typeface="Calibri" pitchFamily="34" charset="-120"/>
              </a:rPr>
              <a:t>Financial</a:t>
            </a:r>
            <a:endParaRPr lang="en-US" sz="1600" dirty="0"/>
          </a:p>
        </p:txBody>
      </p:sp>
      <p:sp>
        <p:nvSpPr>
          <p:cNvPr id="16" name="Text 14"/>
          <p:cNvSpPr/>
          <p:nvPr/>
        </p:nvSpPr>
        <p:spPr>
          <a:xfrm>
            <a:off x="6199632" y="2057400"/>
            <a:ext cx="2286000" cy="1554480"/>
          </a:xfrm>
          <a:prstGeom prst="rect">
            <a:avLst/>
          </a:prstGeom>
          <a:noFill/>
          <a:ln/>
        </p:spPr>
        <p:txBody>
          <a:bodyPr wrap="square" rtlCol="0" anchor="ctr"/>
          <a:lstStyle/>
          <a:p>
            <a:pPr indent="0" marL="0">
              <a:lnSpc>
                <a:spcPts val="1600"/>
              </a:lnSpc>
              <a:buNone/>
            </a:pPr>
            <a:r>
              <a:rPr lang="en-US" sz="1200" dirty="0">
                <a:solidFill>
                  <a:srgbClr val="2C3E50"/>
                </a:solidFill>
                <a:latin typeface="Calibri" pitchFamily="34" charset="0"/>
                <a:ea typeface="Calibri" pitchFamily="34" charset="-122"/>
                <a:cs typeface="Calibri" pitchFamily="34" charset="-120"/>
              </a:rPr>
              <a:t>Settlement-aware analysis offered to programmes and partners as a paid service, a route to recurring revenue.</a:t>
            </a:r>
            <a:endParaRPr lang="en-US" sz="1200" dirty="0"/>
          </a:p>
        </p:txBody>
      </p:sp>
      <p:sp>
        <p:nvSpPr>
          <p:cNvPr id="17" name="Shape 15"/>
          <p:cNvSpPr/>
          <p:nvPr/>
        </p:nvSpPr>
        <p:spPr>
          <a:xfrm>
            <a:off x="457200" y="3977640"/>
            <a:ext cx="8229600" cy="685800"/>
          </a:xfrm>
          <a:prstGeom prst="rect">
            <a:avLst/>
          </a:prstGeom>
          <a:solidFill>
            <a:srgbClr val="1E3A5F"/>
          </a:solidFill>
          <a:ln/>
        </p:spPr>
      </p:sp>
      <p:sp>
        <p:nvSpPr>
          <p:cNvPr id="18" name="Text 16"/>
          <p:cNvSpPr/>
          <p:nvPr/>
        </p:nvSpPr>
        <p:spPr>
          <a:xfrm>
            <a:off x="640080" y="3977640"/>
            <a:ext cx="7863840" cy="68580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Value for money: the cloud-native design avoids fixed local infrastructure and scales cost with use, so classifying a large survey incurs cost only when the analysis runs.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7680960" y="274320"/>
            <a:ext cx="1371600" cy="228600"/>
          </a:xfrm>
          <a:prstGeom prst="rect">
            <a:avLst/>
          </a:prstGeom>
          <a:noFill/>
          <a:ln/>
        </p:spPr>
        <p:txBody>
          <a:bodyPr wrap="square" rtlCol="0" anchor="ctr"/>
          <a:lstStyle/>
          <a:p>
            <a:pPr algn="r" indent="0" marL="0">
              <a:buNone/>
            </a:pPr>
            <a:r>
              <a:rPr lang="en-US" sz="1300" b="1" spc="200" kern="0" dirty="0">
                <a:solidFill>
                  <a:srgbClr val="0D98BA"/>
                </a:solidFill>
                <a:latin typeface="Calibri" pitchFamily="34" charset="0"/>
                <a:ea typeface="Calibri" pitchFamily="34" charset="-122"/>
                <a:cs typeface="Calibri" pitchFamily="34" charset="-120"/>
              </a:rPr>
              <a:t>SPROXIL</a:t>
            </a:r>
            <a:endParaRPr lang="en-US" sz="1300" dirty="0"/>
          </a:p>
        </p:txBody>
      </p:sp>
      <p:sp>
        <p:nvSpPr>
          <p:cNvPr id="3" name="Text 1"/>
          <p:cNvSpPr/>
          <p:nvPr/>
        </p:nvSpPr>
        <p:spPr>
          <a:xfrm>
            <a:off x="457200" y="320040"/>
            <a:ext cx="7132320" cy="548640"/>
          </a:xfrm>
          <a:prstGeom prst="rect">
            <a:avLst/>
          </a:prstGeom>
          <a:noFill/>
          <a:ln/>
        </p:spPr>
        <p:txBody>
          <a:bodyPr wrap="square" rtlCol="0" anchor="ctr"/>
          <a:lstStyle/>
          <a:p>
            <a:pPr indent="0" marL="0">
              <a:buNone/>
            </a:pPr>
            <a:r>
              <a:rPr lang="en-US" sz="2800" b="1" dirty="0">
                <a:solidFill>
                  <a:srgbClr val="1E3A5F"/>
                </a:solidFill>
                <a:latin typeface="Calibri" pitchFamily="34" charset="0"/>
                <a:ea typeface="Calibri" pitchFamily="34" charset="-122"/>
                <a:cs typeface="Calibri" pitchFamily="34" charset="-120"/>
              </a:rPr>
              <a:t>Next Steps</a:t>
            </a:r>
            <a:endParaRPr lang="en-US" sz="2800" dirty="0"/>
          </a:p>
        </p:txBody>
      </p:sp>
      <p:sp>
        <p:nvSpPr>
          <p:cNvPr id="4" name="Shape 2"/>
          <p:cNvSpPr/>
          <p:nvPr/>
        </p:nvSpPr>
        <p:spPr>
          <a:xfrm>
            <a:off x="457200" y="914400"/>
            <a:ext cx="8229600" cy="36576"/>
          </a:xfrm>
          <a:prstGeom prst="rect">
            <a:avLst/>
          </a:prstGeom>
          <a:solidFill>
            <a:srgbClr val="0D98BA"/>
          </a:solidFill>
          <a:ln/>
        </p:spPr>
      </p:sp>
      <p:sp>
        <p:nvSpPr>
          <p:cNvPr id="5" name="Shape 3"/>
          <p:cNvSpPr/>
          <p:nvPr/>
        </p:nvSpPr>
        <p:spPr>
          <a:xfrm>
            <a:off x="457200" y="1371600"/>
            <a:ext cx="2606040" cy="3017520"/>
          </a:xfrm>
          <a:prstGeom prst="rect">
            <a:avLst/>
          </a:prstGeom>
          <a:solidFill>
            <a:srgbClr val="FFFFFF"/>
          </a:solidFill>
          <a:ln/>
        </p:spPr>
      </p:sp>
      <p:sp>
        <p:nvSpPr>
          <p:cNvPr id="6" name="Shape 4"/>
          <p:cNvSpPr/>
          <p:nvPr/>
        </p:nvSpPr>
        <p:spPr>
          <a:xfrm>
            <a:off x="457200" y="1371600"/>
            <a:ext cx="2606040" cy="502920"/>
          </a:xfrm>
          <a:prstGeom prst="rect">
            <a:avLst/>
          </a:prstGeom>
          <a:solidFill>
            <a:srgbClr val="0D6E8C"/>
          </a:solidFill>
          <a:ln/>
        </p:spPr>
      </p:sp>
      <p:sp>
        <p:nvSpPr>
          <p:cNvPr id="7" name="Text 5"/>
          <p:cNvSpPr/>
          <p:nvPr/>
        </p:nvSpPr>
        <p:spPr>
          <a:xfrm>
            <a:off x="457200" y="1371600"/>
            <a:ext cx="260604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Phase 1</a:t>
            </a:r>
            <a:endParaRPr lang="en-US" sz="1800" dirty="0"/>
          </a:p>
        </p:txBody>
      </p:sp>
      <p:sp>
        <p:nvSpPr>
          <p:cNvPr id="8" name="Text 6"/>
          <p:cNvSpPr/>
          <p:nvPr/>
        </p:nvSpPr>
        <p:spPr>
          <a:xfrm>
            <a:off x="640080" y="2057400"/>
            <a:ext cx="2286000" cy="2194560"/>
          </a:xfrm>
          <a:prstGeom prst="rect">
            <a:avLst/>
          </a:prstGeom>
          <a:noFill/>
          <a:ln/>
        </p:spPr>
        <p:txBody>
          <a:bodyPr wrap="square" rtlCol="0" anchor="ctr"/>
          <a:lstStyle/>
          <a:p>
            <a:pPr marL="342900" indent="-342900">
              <a:lnSpc>
                <a:spcPts val="18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Bulk classify ~80,000 survey responses</a:t>
            </a:r>
            <a:endParaRPr lang="en-US" sz="1250" dirty="0"/>
          </a:p>
          <a:p>
            <a:pPr marL="342900" indent="-342900">
              <a:lnSpc>
                <a:spcPts val="18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Export results for national reporting</a:t>
            </a:r>
            <a:endParaRPr lang="en-US" sz="1250" dirty="0"/>
          </a:p>
          <a:p>
            <a:pPr marL="342900" indent="-342900">
              <a:lnSpc>
                <a:spcPts val="18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Archive classified datasets</a:t>
            </a:r>
            <a:endParaRPr lang="en-US" sz="1250" dirty="0"/>
          </a:p>
        </p:txBody>
      </p:sp>
      <p:sp>
        <p:nvSpPr>
          <p:cNvPr id="9" name="Shape 7"/>
          <p:cNvSpPr/>
          <p:nvPr/>
        </p:nvSpPr>
        <p:spPr>
          <a:xfrm>
            <a:off x="3246120" y="1371600"/>
            <a:ext cx="2606040" cy="3017520"/>
          </a:xfrm>
          <a:prstGeom prst="rect">
            <a:avLst/>
          </a:prstGeom>
          <a:solidFill>
            <a:srgbClr val="FFFFFF"/>
          </a:solidFill>
          <a:ln/>
        </p:spPr>
      </p:sp>
      <p:sp>
        <p:nvSpPr>
          <p:cNvPr id="10" name="Shape 8"/>
          <p:cNvSpPr/>
          <p:nvPr/>
        </p:nvSpPr>
        <p:spPr>
          <a:xfrm>
            <a:off x="3246120" y="1371600"/>
            <a:ext cx="2606040" cy="502920"/>
          </a:xfrm>
          <a:prstGeom prst="rect">
            <a:avLst/>
          </a:prstGeom>
          <a:solidFill>
            <a:srgbClr val="00A896"/>
          </a:solidFill>
          <a:ln/>
        </p:spPr>
      </p:sp>
      <p:sp>
        <p:nvSpPr>
          <p:cNvPr id="11" name="Text 9"/>
          <p:cNvSpPr/>
          <p:nvPr/>
        </p:nvSpPr>
        <p:spPr>
          <a:xfrm>
            <a:off x="3246120" y="1371600"/>
            <a:ext cx="260604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Phase 2</a:t>
            </a:r>
            <a:endParaRPr lang="en-US" sz="1800" dirty="0"/>
          </a:p>
        </p:txBody>
      </p:sp>
      <p:sp>
        <p:nvSpPr>
          <p:cNvPr id="12" name="Text 10"/>
          <p:cNvSpPr/>
          <p:nvPr/>
        </p:nvSpPr>
        <p:spPr>
          <a:xfrm>
            <a:off x="3429000" y="2057400"/>
            <a:ext cx="2286000" cy="2194560"/>
          </a:xfrm>
          <a:prstGeom prst="rect">
            <a:avLst/>
          </a:prstGeom>
          <a:noFill/>
          <a:ln/>
        </p:spPr>
        <p:txBody>
          <a:bodyPr wrap="square" rtlCol="0" anchor="ctr"/>
          <a:lstStyle/>
          <a:p>
            <a:pPr marL="342900" indent="-342900">
              <a:lnSpc>
                <a:spcPts val="18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API for traceability and usage trackers</a:t>
            </a:r>
            <a:endParaRPr lang="en-US" sz="1250" dirty="0"/>
          </a:p>
          <a:p>
            <a:pPr marL="342900" indent="-342900">
              <a:lnSpc>
                <a:spcPts val="18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Analytics view of settlement distribution</a:t>
            </a:r>
            <a:endParaRPr lang="en-US" sz="1250" dirty="0"/>
          </a:p>
          <a:p>
            <a:pPr marL="342900" indent="-342900">
              <a:lnSpc>
                <a:spcPts val="18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Extend beyond Nigeria</a:t>
            </a:r>
            <a:endParaRPr lang="en-US" sz="1250" dirty="0"/>
          </a:p>
        </p:txBody>
      </p:sp>
      <p:sp>
        <p:nvSpPr>
          <p:cNvPr id="13" name="Shape 11"/>
          <p:cNvSpPr/>
          <p:nvPr/>
        </p:nvSpPr>
        <p:spPr>
          <a:xfrm>
            <a:off x="6035040" y="1371600"/>
            <a:ext cx="2606040" cy="3017520"/>
          </a:xfrm>
          <a:prstGeom prst="rect">
            <a:avLst/>
          </a:prstGeom>
          <a:solidFill>
            <a:srgbClr val="FFFFFF"/>
          </a:solidFill>
          <a:ln/>
        </p:spPr>
      </p:sp>
      <p:sp>
        <p:nvSpPr>
          <p:cNvPr id="14" name="Shape 12"/>
          <p:cNvSpPr/>
          <p:nvPr/>
        </p:nvSpPr>
        <p:spPr>
          <a:xfrm>
            <a:off x="6035040" y="1371600"/>
            <a:ext cx="2606040" cy="502920"/>
          </a:xfrm>
          <a:prstGeom prst="rect">
            <a:avLst/>
          </a:prstGeom>
          <a:solidFill>
            <a:srgbClr val="0D98BA"/>
          </a:solidFill>
          <a:ln/>
        </p:spPr>
      </p:sp>
      <p:sp>
        <p:nvSpPr>
          <p:cNvPr id="15" name="Text 13"/>
          <p:cNvSpPr/>
          <p:nvPr/>
        </p:nvSpPr>
        <p:spPr>
          <a:xfrm>
            <a:off x="6035040" y="1371600"/>
            <a:ext cx="260604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Phase 3</a:t>
            </a:r>
            <a:endParaRPr lang="en-US" sz="1800" dirty="0"/>
          </a:p>
        </p:txBody>
      </p:sp>
      <p:sp>
        <p:nvSpPr>
          <p:cNvPr id="16" name="Text 14"/>
          <p:cNvSpPr/>
          <p:nvPr/>
        </p:nvSpPr>
        <p:spPr>
          <a:xfrm>
            <a:off x="6217920" y="2057400"/>
            <a:ext cx="2286000" cy="2194560"/>
          </a:xfrm>
          <a:prstGeom prst="rect">
            <a:avLst/>
          </a:prstGeom>
          <a:noFill/>
          <a:ln/>
        </p:spPr>
        <p:txBody>
          <a:bodyPr wrap="square" rtlCol="0" anchor="ctr"/>
          <a:lstStyle/>
          <a:p>
            <a:pPr marL="342900" indent="-342900">
              <a:lnSpc>
                <a:spcPts val="18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Predictive health access and risk analysis</a:t>
            </a:r>
            <a:endParaRPr lang="en-US" sz="1250" dirty="0"/>
          </a:p>
          <a:p>
            <a:pPr marL="342900" indent="-342900">
              <a:lnSpc>
                <a:spcPts val="18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Healthcare accessibility scoring</a:t>
            </a:r>
            <a:endParaRPr lang="en-US" sz="1250" dirty="0"/>
          </a:p>
          <a:p>
            <a:pPr marL="342900" indent="-342900">
              <a:lnSpc>
                <a:spcPts val="18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Field mobile application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457200" y="365760"/>
            <a:ext cx="2743200" cy="320040"/>
          </a:xfrm>
          <a:prstGeom prst="rect">
            <a:avLst/>
          </a:prstGeom>
          <a:noFill/>
          <a:ln/>
        </p:spPr>
        <p:txBody>
          <a:bodyPr wrap="square" rtlCol="0" anchor="ctr"/>
          <a:lstStyle/>
          <a:p>
            <a:pPr indent="0" marL="0">
              <a:buNone/>
            </a:pPr>
            <a:r>
              <a:rPr lang="en-US" sz="1800" b="1" spc="300" kern="0" dirty="0">
                <a:solidFill>
                  <a:srgbClr val="0D98BA"/>
                </a:solidFill>
                <a:latin typeface="Calibri" pitchFamily="34" charset="0"/>
                <a:ea typeface="Calibri" pitchFamily="34" charset="-122"/>
                <a:cs typeface="Calibri" pitchFamily="34" charset="-120"/>
              </a:rPr>
              <a:t>SPROXIL</a:t>
            </a:r>
            <a:endParaRPr lang="en-US" sz="1800" dirty="0"/>
          </a:p>
        </p:txBody>
      </p:sp>
      <p:sp>
        <p:nvSpPr>
          <p:cNvPr id="3" name="Text 1"/>
          <p:cNvSpPr/>
          <p:nvPr/>
        </p:nvSpPr>
        <p:spPr>
          <a:xfrm>
            <a:off x="457200" y="1188720"/>
            <a:ext cx="8229600" cy="54864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Conclusion</a:t>
            </a:r>
            <a:endParaRPr lang="en-US" sz="3400" dirty="0"/>
          </a:p>
        </p:txBody>
      </p:sp>
      <p:sp>
        <p:nvSpPr>
          <p:cNvPr id="4" name="Text 2"/>
          <p:cNvSpPr/>
          <p:nvPr/>
        </p:nvSpPr>
        <p:spPr>
          <a:xfrm>
            <a:off x="457200" y="2011680"/>
            <a:ext cx="8229600" cy="1828800"/>
          </a:xfrm>
          <a:prstGeom prst="rect">
            <a:avLst/>
          </a:prstGeom>
          <a:noFill/>
          <a:ln/>
        </p:spPr>
        <p:txBody>
          <a:bodyPr wrap="square" rtlCol="0" anchor="ctr"/>
          <a:lstStyle/>
          <a:p>
            <a:pPr indent="0" marL="0">
              <a:lnSpc>
                <a:spcPts val="2500"/>
              </a:lnSpc>
              <a:buNone/>
            </a:pPr>
            <a:r>
              <a:rPr lang="en-US" sz="1600" dirty="0">
                <a:solidFill>
                  <a:srgbClr val="D6E2EC"/>
                </a:solidFill>
                <a:latin typeface="Calibri" pitchFamily="34" charset="0"/>
                <a:ea typeface="Calibri" pitchFamily="34" charset="-122"/>
                <a:cs typeface="Calibri" pitchFamily="34" charset="-120"/>
              </a:rPr>
              <a:t>GeoHealth V1 turns a raw coordinate into a meaningful settlement classification through an interface anyone can use. Applied to Sproxil's georeferenced malaria survey of around 80,000 responses, its product traceability, and its usage tracker, and embedded in national work through the NMEP memorandum of understanding, the tool becomes a foundation for settlement-aware health intelligence across Nigeria.</a:t>
            </a:r>
            <a:endParaRPr lang="en-US" sz="1600" dirty="0"/>
          </a:p>
        </p:txBody>
      </p:sp>
      <p:sp>
        <p:nvSpPr>
          <p:cNvPr id="5" name="Text 3"/>
          <p:cNvSpPr/>
          <p:nvPr/>
        </p:nvSpPr>
        <p:spPr>
          <a:xfrm>
            <a:off x="457200" y="4206240"/>
            <a:ext cx="8229600" cy="365760"/>
          </a:xfrm>
          <a:prstGeom prst="rect">
            <a:avLst/>
          </a:prstGeom>
          <a:noFill/>
          <a:ln/>
        </p:spPr>
        <p:txBody>
          <a:bodyPr wrap="square" rtlCol="0" anchor="ctr"/>
          <a:lstStyle/>
          <a:p>
            <a:pPr indent="0" marL="0">
              <a:buNone/>
            </a:pPr>
            <a:r>
              <a:rPr lang="en-US" sz="1400" i="1" dirty="0">
                <a:solidFill>
                  <a:srgbClr val="00A896"/>
                </a:solidFill>
                <a:latin typeface="Calibri" pitchFamily="34" charset="0"/>
                <a:ea typeface="Calibri" pitchFamily="34" charset="-122"/>
                <a:cs typeface="Calibri" pitchFamily="34" charset="-120"/>
              </a:rPr>
              <a:t>With thanks to Amazon Web Services and thriveGEO.</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GeoHealth V1 - Final Project Report</dc:title>
  <dc:subject>PptxGenJS Presentation</dc:subject>
  <dc:creator>Sproxil</dc:creator>
  <cp:lastModifiedBy>Sproxil</cp:lastModifiedBy>
  <cp:revision>1</cp:revision>
  <dcterms:created xsi:type="dcterms:W3CDTF">2026-06-14T01:00:45Z</dcterms:created>
  <dcterms:modified xsi:type="dcterms:W3CDTF">2026-06-14T01:00:45Z</dcterms:modified>
</cp:coreProperties>
</file>